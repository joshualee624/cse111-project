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4"/>
  </p:sldMasterIdLst>
  <p:notesMasterIdLst>
    <p:notesMasterId r:id="rId24"/>
  </p:notesMasterIdLst>
  <p:sldIdLst>
    <p:sldId id="256" r:id="rId5"/>
    <p:sldId id="266" r:id="rId6"/>
    <p:sldId id="267" r:id="rId7"/>
    <p:sldId id="268" r:id="rId8"/>
    <p:sldId id="269" r:id="rId9"/>
    <p:sldId id="270" r:id="rId10"/>
    <p:sldId id="271" r:id="rId11"/>
    <p:sldId id="262" r:id="rId12"/>
    <p:sldId id="272" r:id="rId13"/>
    <p:sldId id="273" r:id="rId14"/>
    <p:sldId id="275" r:id="rId15"/>
    <p:sldId id="257" r:id="rId16"/>
    <p:sldId id="265" r:id="rId17"/>
    <p:sldId id="258" r:id="rId18"/>
    <p:sldId id="259" r:id="rId19"/>
    <p:sldId id="260" r:id="rId20"/>
    <p:sldId id="261" r:id="rId21"/>
    <p:sldId id="263" r:id="rId22"/>
    <p:sldId id="264" r:id="rId2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614297-DB5A-40DA-8067-36FF814E3E22}" v="211" dt="2025-12-11T02:24:59.6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8" d="100"/>
          <a:sy n="128" d="100"/>
        </p:scale>
        <p:origin x="273" y="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9c4666d444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9c4666d444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c4666d44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c4666d44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0EC05B3A-CF6D-F630-425D-7316B64A0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9c4666d444_0_10:notes">
            <a:extLst>
              <a:ext uri="{FF2B5EF4-FFF2-40B4-BE49-F238E27FC236}">
                <a16:creationId xmlns:a16="http://schemas.microsoft.com/office/drawing/2014/main" id="{86F10142-8EF7-60C2-F3A6-B5BCE0BC4F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9c4666d444_0_10:notes">
            <a:extLst>
              <a:ext uri="{FF2B5EF4-FFF2-40B4-BE49-F238E27FC236}">
                <a16:creationId xmlns:a16="http://schemas.microsoft.com/office/drawing/2014/main" id="{328E4340-2871-88DD-1448-C6A4C67979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62240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9c4666d444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9c4666d444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9c4666d444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9c4666d444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9c4666d444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9c4666d444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c4666d444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9c4666d444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9c4666d444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9c4666d444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9c4666d444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9c4666d444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409575" y="-3572"/>
            <a:ext cx="3761184" cy="5147072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96301" y="1035052"/>
            <a:ext cx="6430967" cy="1962149"/>
          </a:xfrm>
        </p:spPr>
        <p:txBody>
          <a:bodyPr anchor="b">
            <a:normAutofit/>
          </a:bodyPr>
          <a:lstStyle>
            <a:lvl1pPr algn="r">
              <a:defRPr sz="10667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86533" y="2997200"/>
            <a:ext cx="5240734" cy="1041401"/>
          </a:xfrm>
        </p:spPr>
        <p:txBody>
          <a:bodyPr anchor="t">
            <a:normAutofit/>
          </a:bodyPr>
          <a:lstStyle>
            <a:lvl1pPr marL="0" indent="0" algn="r">
              <a:buNone/>
              <a:defRPr sz="3733">
                <a:solidFill>
                  <a:schemeClr val="tx1"/>
                </a:solidFill>
              </a:defRPr>
            </a:lvl1pPr>
            <a:lvl2pPr marL="8128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6256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4384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2512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0640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8768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6896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5024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99309" y="4412457"/>
            <a:ext cx="3243033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433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13893" y="4400349"/>
            <a:ext cx="41337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672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9210" y="2000249"/>
            <a:ext cx="6698060" cy="1582787"/>
          </a:xfrm>
        </p:spPr>
        <p:txBody>
          <a:bodyPr anchor="b"/>
          <a:lstStyle>
            <a:lvl1pPr algn="r">
              <a:defRPr sz="7111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9209" y="3583036"/>
            <a:ext cx="6698061" cy="645300"/>
          </a:xfrm>
        </p:spPr>
        <p:txBody>
          <a:bodyPr anchor="t">
            <a:normAutofit/>
          </a:bodyPr>
          <a:lstStyle>
            <a:lvl1pPr marL="0" indent="0" algn="r">
              <a:buNone/>
              <a:defRPr sz="3556">
                <a:solidFill>
                  <a:schemeClr val="tx1"/>
                </a:solidFill>
              </a:defRPr>
            </a:lvl1pPr>
            <a:lvl2pPr marL="81281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2pPr>
            <a:lvl3pPr marL="162562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3pPr>
            <a:lvl4pPr marL="2438430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4pPr>
            <a:lvl5pPr marL="325124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5pPr>
            <a:lvl6pPr marL="406405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6pPr>
            <a:lvl7pPr marL="487686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7pPr>
            <a:lvl8pPr marL="568967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8pPr>
            <a:lvl9pPr marL="650248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375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4" y="514351"/>
            <a:ext cx="7514035" cy="13144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3235" y="2000250"/>
            <a:ext cx="3671291" cy="2343151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44"/>
            </a:lvl2pPr>
            <a:lvl3pPr>
              <a:defRPr sz="248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5975" y="2000250"/>
            <a:ext cx="3671292" cy="2343150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44"/>
            </a:lvl2pPr>
            <a:lvl3pPr>
              <a:defRPr sz="248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5669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134" y="1993900"/>
            <a:ext cx="3455391" cy="432197"/>
          </a:xfrm>
        </p:spPr>
        <p:txBody>
          <a:bodyPr anchor="b">
            <a:noAutofit/>
          </a:bodyPr>
          <a:lstStyle>
            <a:lvl1pPr marL="0" indent="0">
              <a:buNone/>
              <a:defRPr sz="4978" b="0">
                <a:solidFill>
                  <a:schemeClr val="accent1">
                    <a:lumMod val="75000"/>
                  </a:schemeClr>
                </a:solidFill>
              </a:defRPr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233" y="2501503"/>
            <a:ext cx="3671292" cy="1841897"/>
          </a:xfrm>
        </p:spPr>
        <p:txBody>
          <a:bodyPr anchor="t">
            <a:normAutofit/>
          </a:bodyPr>
          <a:lstStyle>
            <a:lvl1pPr>
              <a:defRPr sz="3200"/>
            </a:lvl1pPr>
            <a:lvl2pPr>
              <a:defRPr sz="2844"/>
            </a:lvl2pPr>
            <a:lvl3pPr>
              <a:defRPr sz="248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0366" y="2000250"/>
            <a:ext cx="3466903" cy="432197"/>
          </a:xfrm>
        </p:spPr>
        <p:txBody>
          <a:bodyPr anchor="b">
            <a:noAutofit/>
          </a:bodyPr>
          <a:lstStyle>
            <a:lvl1pPr marL="0" indent="0">
              <a:buNone/>
              <a:defRPr sz="4978" b="0">
                <a:solidFill>
                  <a:schemeClr val="accent1">
                    <a:lumMod val="75000"/>
                  </a:schemeClr>
                </a:solidFill>
              </a:defRPr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5975" y="2501503"/>
            <a:ext cx="3671292" cy="1841897"/>
          </a:xfrm>
        </p:spPr>
        <p:txBody>
          <a:bodyPr anchor="t">
            <a:normAutofit/>
          </a:bodyPr>
          <a:lstStyle>
            <a:lvl1pPr>
              <a:defRPr sz="3200"/>
            </a:lvl1pPr>
            <a:lvl2pPr>
              <a:defRPr sz="2844"/>
            </a:lvl2pPr>
            <a:lvl3pPr>
              <a:defRPr sz="248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502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022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318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4" y="1200150"/>
            <a:ext cx="2661841" cy="1028700"/>
          </a:xfrm>
        </p:spPr>
        <p:txBody>
          <a:bodyPr anchor="b">
            <a:normAutofit/>
          </a:bodyPr>
          <a:lstStyle>
            <a:lvl1pPr algn="ctr">
              <a:defRPr sz="4267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6525" y="514350"/>
            <a:ext cx="4680743" cy="3829051"/>
          </a:xfrm>
        </p:spPr>
        <p:txBody>
          <a:bodyPr anchor="ctr">
            <a:normAutofit/>
          </a:bodyPr>
          <a:lstStyle>
            <a:lvl1pPr>
              <a:defRPr sz="3556"/>
            </a:lvl1pPr>
            <a:lvl2pPr>
              <a:defRPr sz="3200"/>
            </a:lvl2pPr>
            <a:lvl3pPr>
              <a:defRPr sz="2844"/>
            </a:lvl3pPr>
            <a:lvl4pPr>
              <a:defRPr sz="2489"/>
            </a:lvl4pPr>
            <a:lvl5pPr>
              <a:defRPr sz="2489"/>
            </a:lvl5pPr>
            <a:lvl6pPr>
              <a:defRPr sz="2489"/>
            </a:lvl6pPr>
            <a:lvl7pPr>
              <a:defRPr sz="2489"/>
            </a:lvl7pPr>
            <a:lvl8pPr>
              <a:defRPr sz="2489"/>
            </a:lvl8pPr>
            <a:lvl9pPr>
              <a:defRPr sz="248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234" y="2228850"/>
            <a:ext cx="2661841" cy="1371600"/>
          </a:xfrm>
        </p:spPr>
        <p:txBody>
          <a:bodyPr>
            <a:normAutofit/>
          </a:bodyPr>
          <a:lstStyle>
            <a:lvl1pPr marL="0" indent="0" algn="ctr">
              <a:buNone/>
              <a:defRPr sz="2844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094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043" y="1314449"/>
            <a:ext cx="4069619" cy="1028700"/>
          </a:xfrm>
        </p:spPr>
        <p:txBody>
          <a:bodyPr anchor="b">
            <a:normAutofit/>
          </a:bodyPr>
          <a:lstStyle>
            <a:lvl1pPr algn="ctr">
              <a:defRPr sz="4978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6011" y="685800"/>
            <a:ext cx="2460731" cy="3429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844"/>
            </a:lvl1pPr>
            <a:lvl2pPr marL="812810" indent="0">
              <a:buNone/>
              <a:defRPr sz="2844"/>
            </a:lvl2pPr>
            <a:lvl3pPr marL="1625620" indent="0">
              <a:buNone/>
              <a:defRPr sz="2844"/>
            </a:lvl3pPr>
            <a:lvl4pPr marL="2438430" indent="0">
              <a:buNone/>
              <a:defRPr sz="2844"/>
            </a:lvl4pPr>
            <a:lvl5pPr marL="3251241" indent="0">
              <a:buNone/>
              <a:defRPr sz="2844"/>
            </a:lvl5pPr>
            <a:lvl6pPr marL="4064051" indent="0">
              <a:buNone/>
              <a:defRPr sz="2844"/>
            </a:lvl6pPr>
            <a:lvl7pPr marL="4876861" indent="0">
              <a:buNone/>
              <a:defRPr sz="2844"/>
            </a:lvl7pPr>
            <a:lvl8pPr marL="5689671" indent="0">
              <a:buNone/>
              <a:defRPr sz="2844"/>
            </a:lvl8pPr>
            <a:lvl9pPr marL="6502481" indent="0">
              <a:buNone/>
              <a:defRPr sz="2844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043" y="2343149"/>
            <a:ext cx="4069619" cy="1371600"/>
          </a:xfrm>
        </p:spPr>
        <p:txBody>
          <a:bodyPr>
            <a:normAutofit/>
          </a:bodyPr>
          <a:lstStyle>
            <a:lvl1pPr marL="0" indent="0" algn="ctr">
              <a:buNone/>
              <a:defRPr sz="3200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7903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4" y="3549649"/>
            <a:ext cx="7514033" cy="425054"/>
          </a:xfrm>
        </p:spPr>
        <p:txBody>
          <a:bodyPr anchor="b">
            <a:normAutofit/>
          </a:bodyPr>
          <a:lstStyle>
            <a:lvl1pPr algn="ctr">
              <a:defRPr sz="4267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509" y="699084"/>
            <a:ext cx="6169458" cy="2373732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844"/>
            </a:lvl1pPr>
            <a:lvl2pPr marL="812810" indent="0">
              <a:buNone/>
              <a:defRPr sz="2844"/>
            </a:lvl2pPr>
            <a:lvl3pPr marL="1625620" indent="0">
              <a:buNone/>
              <a:defRPr sz="2844"/>
            </a:lvl3pPr>
            <a:lvl4pPr marL="2438430" indent="0">
              <a:buNone/>
              <a:defRPr sz="2844"/>
            </a:lvl4pPr>
            <a:lvl5pPr marL="3251241" indent="0">
              <a:buNone/>
              <a:defRPr sz="2844"/>
            </a:lvl5pPr>
            <a:lvl6pPr marL="4064051" indent="0">
              <a:buNone/>
              <a:defRPr sz="2844"/>
            </a:lvl6pPr>
            <a:lvl7pPr marL="4876861" indent="0">
              <a:buNone/>
              <a:defRPr sz="2844"/>
            </a:lvl7pPr>
            <a:lvl8pPr marL="5689671" indent="0">
              <a:buNone/>
              <a:defRPr sz="2844"/>
            </a:lvl8pPr>
            <a:lvl9pPr marL="6502481" indent="0">
              <a:buNone/>
              <a:defRPr sz="2844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234" y="3974702"/>
            <a:ext cx="7514033" cy="370284"/>
          </a:xfrm>
        </p:spPr>
        <p:txBody>
          <a:bodyPr>
            <a:normAutofit/>
          </a:bodyPr>
          <a:lstStyle>
            <a:lvl1pPr marL="0" indent="0" algn="ctr">
              <a:buNone/>
              <a:defRPr sz="2489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169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5" y="514350"/>
            <a:ext cx="7514033" cy="2286000"/>
          </a:xfrm>
        </p:spPr>
        <p:txBody>
          <a:bodyPr anchor="ctr">
            <a:normAutofit/>
          </a:bodyPr>
          <a:lstStyle>
            <a:lvl1pPr algn="ctr">
              <a:defRPr sz="5689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4" y="3257550"/>
            <a:ext cx="7514035" cy="10858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3556">
                <a:solidFill>
                  <a:schemeClr val="tx1"/>
                </a:solidFill>
              </a:defRPr>
            </a:lvl1pPr>
            <a:lvl2pPr marL="81281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2pPr>
            <a:lvl3pPr marL="162562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3pPr>
            <a:lvl4pPr marL="2438430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4pPr>
            <a:lvl5pPr marL="325124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5pPr>
            <a:lvl6pPr marL="406405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6pPr>
            <a:lvl7pPr marL="487686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7pPr>
            <a:lvl8pPr marL="568967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8pPr>
            <a:lvl9pPr marL="650248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4333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198959" y="647267"/>
            <a:ext cx="457200" cy="438582"/>
          </a:xfrm>
          <a:prstGeom prst="rect">
            <a:avLst/>
          </a:prstGeom>
        </p:spPr>
        <p:txBody>
          <a:bodyPr vert="horz" lIns="162560" tIns="81280" rIns="162560" bIns="8128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14222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0069" y="2114549"/>
            <a:ext cx="457200" cy="438582"/>
          </a:xfrm>
          <a:prstGeom prst="rect">
            <a:avLst/>
          </a:prstGeom>
        </p:spPr>
        <p:txBody>
          <a:bodyPr vert="horz" lIns="162560" tIns="81280" rIns="162560" bIns="8128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14222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6159" y="514351"/>
            <a:ext cx="6742509" cy="2057399"/>
          </a:xfrm>
        </p:spPr>
        <p:txBody>
          <a:bodyPr anchor="ctr">
            <a:normAutofit/>
          </a:bodyPr>
          <a:lstStyle>
            <a:lvl1pPr algn="ctr">
              <a:defRPr sz="5689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827609" y="2571749"/>
            <a:ext cx="6399611" cy="28575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3200"/>
            </a:lvl1pPr>
            <a:lvl2pPr marL="812810" indent="0">
              <a:buFontTx/>
              <a:buNone/>
              <a:defRPr/>
            </a:lvl2pPr>
            <a:lvl3pPr marL="1625620" indent="0">
              <a:buFontTx/>
              <a:buNone/>
              <a:defRPr/>
            </a:lvl3pPr>
            <a:lvl4pPr marL="2438430" indent="0">
              <a:buFontTx/>
              <a:buNone/>
              <a:defRPr/>
            </a:lvl4pPr>
            <a:lvl5pPr marL="3251241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4" y="3257550"/>
            <a:ext cx="7514033" cy="10858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3556">
                <a:solidFill>
                  <a:schemeClr val="tx1"/>
                </a:solidFill>
              </a:defRPr>
            </a:lvl1pPr>
            <a:lvl2pPr marL="81281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2pPr>
            <a:lvl3pPr marL="162562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3pPr>
            <a:lvl4pPr marL="2438430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4pPr>
            <a:lvl5pPr marL="325124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5pPr>
            <a:lvl6pPr marL="406405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6pPr>
            <a:lvl7pPr marL="487686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7pPr>
            <a:lvl8pPr marL="568967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8pPr>
            <a:lvl9pPr marL="650248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4506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5" y="2481436"/>
            <a:ext cx="7514032" cy="1101600"/>
          </a:xfrm>
        </p:spPr>
        <p:txBody>
          <a:bodyPr anchor="b">
            <a:normAutofit/>
          </a:bodyPr>
          <a:lstStyle>
            <a:lvl1pPr algn="r">
              <a:defRPr sz="5689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4" y="3583036"/>
            <a:ext cx="7514033" cy="645300"/>
          </a:xfrm>
        </p:spPr>
        <p:txBody>
          <a:bodyPr anchor="t">
            <a:normAutofit/>
          </a:bodyPr>
          <a:lstStyle>
            <a:lvl1pPr marL="0" indent="0" algn="r">
              <a:buNone/>
              <a:defRPr sz="3556">
                <a:solidFill>
                  <a:schemeClr val="tx1"/>
                </a:solidFill>
              </a:defRPr>
            </a:lvl1pPr>
            <a:lvl2pPr marL="81281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2pPr>
            <a:lvl3pPr marL="162562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3pPr>
            <a:lvl4pPr marL="2438430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4pPr>
            <a:lvl5pPr marL="325124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5pPr>
            <a:lvl6pPr marL="406405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6pPr>
            <a:lvl7pPr marL="487686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7pPr>
            <a:lvl8pPr marL="568967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8pPr>
            <a:lvl9pPr marL="650248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9589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198959" y="647267"/>
            <a:ext cx="457200" cy="438582"/>
          </a:xfrm>
          <a:prstGeom prst="rect">
            <a:avLst/>
          </a:prstGeom>
        </p:spPr>
        <p:txBody>
          <a:bodyPr vert="horz" lIns="162560" tIns="81280" rIns="162560" bIns="8128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14222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0069" y="2114549"/>
            <a:ext cx="457200" cy="438582"/>
          </a:xfrm>
          <a:prstGeom prst="rect">
            <a:avLst/>
          </a:prstGeom>
        </p:spPr>
        <p:txBody>
          <a:bodyPr vert="horz" lIns="162560" tIns="81280" rIns="162560" bIns="8128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14222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6159" y="514351"/>
            <a:ext cx="6742509" cy="2057399"/>
          </a:xfrm>
        </p:spPr>
        <p:txBody>
          <a:bodyPr anchor="ctr">
            <a:normAutofit/>
          </a:bodyPr>
          <a:lstStyle>
            <a:lvl1pPr algn="ctr">
              <a:defRPr sz="5689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235" y="2914650"/>
            <a:ext cx="7514033" cy="66675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4267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4" y="3581400"/>
            <a:ext cx="7514033" cy="762000"/>
          </a:xfrm>
        </p:spPr>
        <p:txBody>
          <a:bodyPr anchor="t">
            <a:normAutofit/>
          </a:bodyPr>
          <a:lstStyle>
            <a:lvl1pPr marL="0" indent="0" algn="r">
              <a:buNone/>
              <a:defRPr sz="3200">
                <a:solidFill>
                  <a:schemeClr val="tx1"/>
                </a:solidFill>
              </a:defRPr>
            </a:lvl1pPr>
            <a:lvl2pPr marL="81281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2pPr>
            <a:lvl3pPr marL="162562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3pPr>
            <a:lvl4pPr marL="2438430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4pPr>
            <a:lvl5pPr marL="325124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5pPr>
            <a:lvl6pPr marL="406405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6pPr>
            <a:lvl7pPr marL="487686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7pPr>
            <a:lvl8pPr marL="568967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8pPr>
            <a:lvl9pPr marL="650248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352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5" y="514350"/>
            <a:ext cx="7514034" cy="2045494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234" y="2628900"/>
            <a:ext cx="7514035" cy="62865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4978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4" y="3257550"/>
            <a:ext cx="7514035" cy="1085850"/>
          </a:xfrm>
        </p:spPr>
        <p:txBody>
          <a:bodyPr anchor="t">
            <a:norm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</a:defRPr>
            </a:lvl1pPr>
            <a:lvl2pPr marL="81281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2pPr>
            <a:lvl3pPr marL="162562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3pPr>
            <a:lvl4pPr marL="2438430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4pPr>
            <a:lvl5pPr marL="325124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5pPr>
            <a:lvl6pPr marL="406405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6pPr>
            <a:lvl7pPr marL="487686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7pPr>
            <a:lvl8pPr marL="568967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8pPr>
            <a:lvl9pPr marL="650248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5754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554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99492" y="514350"/>
            <a:ext cx="1327777" cy="38290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234" y="514350"/>
            <a:ext cx="6014807" cy="382905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4877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77530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13109" y="0"/>
            <a:ext cx="1827610" cy="51435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3234" y="514351"/>
            <a:ext cx="7514035" cy="131444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3" y="2000250"/>
            <a:ext cx="7514035" cy="2343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9492" y="4412457"/>
            <a:ext cx="8572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78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29210" y="4412457"/>
            <a:ext cx="531313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78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13893" y="4412457"/>
            <a:ext cx="41337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78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642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31139" y="1104899"/>
            <a:ext cx="8481722" cy="1962149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/>
          <a:p>
            <a:r>
              <a:rPr lang="en-US" sz="10650" dirty="0"/>
              <a:t>NBA Stats App</a:t>
            </a: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2100658" y="2997200"/>
            <a:ext cx="6526609" cy="10414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r>
              <a:rPr lang="en-US" sz="3700"/>
              <a:t>Yiannis Karydis  | Nicola </a:t>
            </a:r>
            <a:r>
              <a:rPr lang="en-US" sz="3700" err="1"/>
              <a:t>Cisbani</a:t>
            </a:r>
            <a:r>
              <a:rPr lang="en-US" sz="3700"/>
              <a:t> | Joshua Lee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D2E5F-4289-C451-07E8-4EC076E47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System Description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5D73E4-4D9A-9DF6-4782-00F7BA8CC2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Our project is a Python-based NBA Database Management System designed to provide interactive access to a large, multi-table SQLite database of NBA information. The system allows users to explore players, teams, statistics, awards, games, and league history using a structured command-line interface. The application integrates multiple datasets (CSV files) and exposes a set of high-level operations for querying and updating basketball data.</a:t>
            </a:r>
          </a:p>
        </p:txBody>
      </p:sp>
    </p:spTree>
    <p:extLst>
      <p:ext uri="{BB962C8B-B14F-4D97-AF65-F5344CB8AC3E}">
        <p14:creationId xmlns:p14="http://schemas.microsoft.com/office/powerpoint/2010/main" val="6489895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2F11C-9F40-3C2B-0C12-23DF0D6C0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Use Cases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52DD1B-7D7B-F71E-EEFA-587E4647AE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Player Search &amp; Player Profiles</a:t>
            </a:r>
          </a:p>
          <a:p>
            <a:r>
              <a:rPr lang="en-US" dirty="0"/>
              <a:t>Users can look up details about a specific NBA player</a:t>
            </a:r>
          </a:p>
          <a:p>
            <a:r>
              <a:rPr lang="en-US" dirty="0"/>
              <a:t>Details include</a:t>
            </a:r>
          </a:p>
          <a:p>
            <a:pPr lvl="1"/>
            <a:r>
              <a:rPr lang="en-US" dirty="0"/>
              <a:t>Biographic Data(Height, Weight, birth)</a:t>
            </a:r>
          </a:p>
          <a:p>
            <a:pPr lvl="1"/>
            <a:r>
              <a:rPr lang="en-US" dirty="0"/>
              <a:t>Team history</a:t>
            </a:r>
          </a:p>
          <a:p>
            <a:pPr lvl="1"/>
            <a:r>
              <a:rPr lang="en-US" dirty="0"/>
              <a:t>Career stats(points, rebounds, assists, etc.)</a:t>
            </a:r>
          </a:p>
          <a:p>
            <a:pPr lvl="1"/>
            <a:r>
              <a:rPr lang="en-US" dirty="0"/>
              <a:t>Awards</a:t>
            </a:r>
          </a:p>
          <a:p>
            <a:pPr lvl="1"/>
            <a:r>
              <a:rPr lang="en-US" dirty="0"/>
              <a:t>All-star selections</a:t>
            </a:r>
          </a:p>
        </p:txBody>
      </p:sp>
    </p:spTree>
    <p:extLst>
      <p:ext uri="{BB962C8B-B14F-4D97-AF65-F5344CB8AC3E}">
        <p14:creationId xmlns:p14="http://schemas.microsoft.com/office/powerpoint/2010/main" val="3056121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EB3E1-80DA-601E-E5B1-C0069F564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B547A-B630-B7D7-ABD9-DBFA37103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Use Cases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8FFA18-DDC9-63C5-6E65-C0CAD44A01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Team Exploration</a:t>
            </a:r>
          </a:p>
          <a:p>
            <a:r>
              <a:rPr lang="en-US" dirty="0"/>
              <a:t>Users can explore NBA teams and their players</a:t>
            </a:r>
          </a:p>
          <a:p>
            <a:r>
              <a:rPr lang="en-US" dirty="0"/>
              <a:t>View full list of teams</a:t>
            </a:r>
          </a:p>
          <a:p>
            <a:r>
              <a:rPr lang="en-US" dirty="0"/>
              <a:t>Information you can view:</a:t>
            </a:r>
          </a:p>
          <a:p>
            <a:pPr lvl="1"/>
            <a:r>
              <a:rPr lang="en-US" dirty="0"/>
              <a:t>Team info</a:t>
            </a:r>
          </a:p>
          <a:p>
            <a:pPr lvl="1"/>
            <a:r>
              <a:rPr lang="en-US" dirty="0"/>
              <a:t>Team roster and positions</a:t>
            </a:r>
          </a:p>
          <a:p>
            <a:pPr lvl="1"/>
            <a:r>
              <a:rPr lang="en-US" dirty="0"/>
              <a:t>Season record</a:t>
            </a:r>
          </a:p>
          <a:p>
            <a:pPr lvl="1"/>
            <a:r>
              <a:rPr lang="en-US" dirty="0"/>
              <a:t>Schedule and results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7330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27A76-5F1C-5264-36A0-83051BF25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9EF34-6140-3D08-0EF3-1C81F77A5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Use Cases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D1DBD6-BDCB-4C27-56B5-A756D723B1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League Wide Stats</a:t>
            </a:r>
          </a:p>
          <a:p>
            <a:r>
              <a:rPr lang="en-US" dirty="0"/>
              <a:t>Users can see top performers in the league</a:t>
            </a:r>
          </a:p>
          <a:p>
            <a:r>
              <a:rPr lang="en-US" dirty="0"/>
              <a:t>Users can compare performances</a:t>
            </a:r>
          </a:p>
          <a:p>
            <a:r>
              <a:rPr lang="en-US" dirty="0"/>
              <a:t>Information you can view:</a:t>
            </a:r>
          </a:p>
          <a:p>
            <a:pPr lvl="1"/>
            <a:r>
              <a:rPr lang="en-US" dirty="0"/>
              <a:t>Top scorers, rebounders, and assists</a:t>
            </a:r>
          </a:p>
          <a:p>
            <a:pPr lvl="1"/>
            <a:r>
              <a:rPr lang="en-US" dirty="0"/>
              <a:t>Top performing teams</a:t>
            </a:r>
          </a:p>
          <a:p>
            <a:pPr lvl="1"/>
            <a:r>
              <a:rPr lang="en-US" dirty="0"/>
              <a:t>Player season stats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06783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4031F-1BFF-01EE-E7E1-F6A244D1B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54E8A-F5DE-31BE-A4C6-19A9BD7EA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Use Cases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13D4AE-9F9B-6E30-8F5E-D993B00116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Draft and All-star</a:t>
            </a:r>
          </a:p>
          <a:p>
            <a:r>
              <a:rPr lang="en-US" dirty="0"/>
              <a:t>Users can see draft and all-star history</a:t>
            </a:r>
          </a:p>
          <a:p>
            <a:r>
              <a:rPr lang="en-US" dirty="0"/>
              <a:t>Information you can view:</a:t>
            </a:r>
          </a:p>
          <a:p>
            <a:pPr lvl="1"/>
            <a:r>
              <a:rPr lang="en-US" dirty="0"/>
              <a:t>Draft picks  for a certain year</a:t>
            </a:r>
          </a:p>
          <a:p>
            <a:pPr lvl="1"/>
            <a:r>
              <a:rPr lang="en-US" dirty="0"/>
              <a:t>All-star selections</a:t>
            </a:r>
          </a:p>
          <a:p>
            <a:pPr lvl="1"/>
            <a:r>
              <a:rPr lang="en-US" dirty="0"/>
              <a:t>All-star game winners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75429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79D9D-57B5-C179-FD02-3591404BF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E4324-450F-3CA8-234C-5D9D5BA3D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Use Cases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C7E46E-DDF9-E91C-9C33-B836AE1A4B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Updates to the database</a:t>
            </a:r>
          </a:p>
          <a:p>
            <a:r>
              <a:rPr lang="en-US" dirty="0"/>
              <a:t>Users with admin privilege can update the database</a:t>
            </a:r>
          </a:p>
          <a:p>
            <a:r>
              <a:rPr lang="en-US" dirty="0"/>
              <a:t>Updates that can be made:</a:t>
            </a:r>
          </a:p>
          <a:p>
            <a:pPr lvl="1"/>
            <a:r>
              <a:rPr lang="en-US" dirty="0"/>
              <a:t>Trade players from one team to another</a:t>
            </a:r>
          </a:p>
          <a:p>
            <a:pPr lvl="1"/>
            <a:r>
              <a:rPr lang="en-US" dirty="0"/>
              <a:t>Player stats can be updated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10148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>
            <a:spLocks noGrp="1"/>
          </p:cNvSpPr>
          <p:nvPr>
            <p:ph type="title"/>
          </p:nvPr>
        </p:nvSpPr>
        <p:spPr>
          <a:xfrm>
            <a:off x="2826300" y="137844"/>
            <a:ext cx="306991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E/R diagram</a:t>
            </a:r>
            <a:endParaRPr/>
          </a:p>
        </p:txBody>
      </p:sp>
      <p:pic>
        <p:nvPicPr>
          <p:cNvPr id="4" name="Picture 3" descr="A diagram of a sports team&#10;&#10;AI-generated content may be incorrect.">
            <a:extLst>
              <a:ext uri="{FF2B5EF4-FFF2-40B4-BE49-F238E27FC236}">
                <a16:creationId xmlns:a16="http://schemas.microsoft.com/office/drawing/2014/main" id="{DA1690A2-F495-4B61-E752-506A82913F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462" y="929466"/>
            <a:ext cx="7198283" cy="34765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58225-60A4-716A-4404-810FBC19F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 dirty="0"/>
              <a:t>Relational Schema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39B23B-8239-7D90-A3F2-1DD0BB8337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61611" y="605015"/>
            <a:ext cx="2405374" cy="2221474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900" b="1" dirty="0">
                <a:cs typeface="Times New Roman" panose="02020603050405020304" pitchFamily="18" charset="0"/>
              </a:rPr>
              <a:t>PLAYER(</a:t>
            </a:r>
            <a:r>
              <a:rPr lang="en-US" sz="900" b="1" dirty="0" err="1">
                <a:cs typeface="Times New Roman" panose="02020603050405020304" pitchFamily="18" charset="0"/>
              </a:rPr>
              <a:t>PlayerID</a:t>
            </a:r>
            <a:r>
              <a:rPr lang="en-US" sz="900" b="1" dirty="0">
                <a:cs typeface="Times New Roman" panose="02020603050405020304" pitchFamily="18" charset="0"/>
              </a:rPr>
              <a:t>, </a:t>
            </a:r>
            <a:r>
              <a:rPr lang="en-US" sz="900" b="1" dirty="0" err="1">
                <a:cs typeface="Times New Roman" panose="02020603050405020304" pitchFamily="18" charset="0"/>
              </a:rPr>
              <a:t>PlayerName</a:t>
            </a:r>
            <a:r>
              <a:rPr lang="en-US" sz="900" b="1" dirty="0">
                <a:cs typeface="Times New Roman" panose="02020603050405020304" pitchFamily="18" charset="0"/>
              </a:rPr>
              <a:t>, </a:t>
            </a:r>
            <a:r>
              <a:rPr lang="en-US" sz="900" b="1" dirty="0" err="1">
                <a:cs typeface="Times New Roman" panose="02020603050405020304" pitchFamily="18" charset="0"/>
              </a:rPr>
              <a:t>BornDate</a:t>
            </a:r>
            <a:r>
              <a:rPr lang="en-US" sz="900" b="1" dirty="0">
                <a:cs typeface="Times New Roman" panose="02020603050405020304" pitchFamily="18" charset="0"/>
              </a:rPr>
              <a:t>, Height, Weight)</a:t>
            </a:r>
          </a:p>
          <a:p>
            <a:pPr marL="114300" indent="0">
              <a:buNone/>
            </a:pPr>
            <a:r>
              <a:rPr lang="en-US" sz="900" b="1" dirty="0">
                <a:cs typeface="Times New Roman" panose="02020603050405020304" pitchFamily="18" charset="0"/>
              </a:rPr>
              <a:t>Primary Key:</a:t>
            </a:r>
            <a:r>
              <a:rPr lang="en-US" sz="900" dirty="0"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cs typeface="Times New Roman" panose="02020603050405020304" pitchFamily="18" charset="0"/>
              </a:rPr>
              <a:t>PlayerID</a:t>
            </a:r>
            <a:br>
              <a:rPr lang="en-US" sz="900" dirty="0">
                <a:cs typeface="Times New Roman" panose="02020603050405020304" pitchFamily="18" charset="0"/>
              </a:rPr>
            </a:br>
            <a:r>
              <a:rPr lang="en-US" sz="900" b="1" dirty="0">
                <a:cs typeface="Times New Roman" panose="02020603050405020304" pitchFamily="18" charset="0"/>
              </a:rPr>
              <a:t>Referenced in:</a:t>
            </a:r>
            <a:endParaRPr lang="en-US" sz="900" dirty="0"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US" sz="900" dirty="0">
                <a:cs typeface="Times New Roman" panose="02020603050405020304" pitchFamily="18" charset="0"/>
              </a:rPr>
              <a:t>PLAYER_TEAM(</a:t>
            </a:r>
            <a:r>
              <a:rPr lang="en-US" sz="900" dirty="0" err="1">
                <a:cs typeface="Times New Roman" panose="02020603050405020304" pitchFamily="18" charset="0"/>
              </a:rPr>
              <a:t>PlayerID</a:t>
            </a:r>
            <a:r>
              <a:rPr lang="en-US" sz="900" dirty="0">
                <a:cs typeface="Times New Roman" panose="02020603050405020304" pitchFamily="18" charset="0"/>
              </a:rPr>
              <a:t>)</a:t>
            </a:r>
          </a:p>
          <a:p>
            <a:pPr marL="114300" indent="0">
              <a:buNone/>
            </a:pPr>
            <a:r>
              <a:rPr lang="en-US" sz="900" dirty="0">
                <a:cs typeface="Times New Roman" panose="02020603050405020304" pitchFamily="18" charset="0"/>
              </a:rPr>
              <a:t>PLAYER_SEASON(</a:t>
            </a:r>
            <a:r>
              <a:rPr lang="en-US" sz="900" dirty="0" err="1">
                <a:cs typeface="Times New Roman" panose="02020603050405020304" pitchFamily="18" charset="0"/>
              </a:rPr>
              <a:t>PlayerID</a:t>
            </a:r>
            <a:r>
              <a:rPr lang="en-US" sz="900" dirty="0">
                <a:cs typeface="Times New Roman" panose="02020603050405020304" pitchFamily="18" charset="0"/>
              </a:rPr>
              <a:t>)</a:t>
            </a:r>
          </a:p>
          <a:p>
            <a:pPr marL="114300" indent="0">
              <a:buNone/>
            </a:pPr>
            <a:r>
              <a:rPr lang="en-US" sz="900" dirty="0">
                <a:cs typeface="Times New Roman" panose="02020603050405020304" pitchFamily="18" charset="0"/>
              </a:rPr>
              <a:t>STATISTICS(</a:t>
            </a:r>
            <a:r>
              <a:rPr lang="en-US" sz="900" dirty="0" err="1">
                <a:cs typeface="Times New Roman" panose="02020603050405020304" pitchFamily="18" charset="0"/>
              </a:rPr>
              <a:t>PlayerID</a:t>
            </a:r>
            <a:r>
              <a:rPr lang="en-US" sz="900" dirty="0">
                <a:cs typeface="Times New Roman" panose="02020603050405020304" pitchFamily="18" charset="0"/>
              </a:rPr>
              <a:t>)</a:t>
            </a:r>
          </a:p>
          <a:p>
            <a:pPr marL="114300" indent="0">
              <a:buNone/>
            </a:pPr>
            <a:r>
              <a:rPr lang="en-US" sz="900" dirty="0">
                <a:cs typeface="Times New Roman" panose="02020603050405020304" pitchFamily="18" charset="0"/>
              </a:rPr>
              <a:t>PLAYER_AWARD(</a:t>
            </a:r>
            <a:r>
              <a:rPr lang="en-US" sz="900" dirty="0" err="1">
                <a:cs typeface="Times New Roman" panose="02020603050405020304" pitchFamily="18" charset="0"/>
              </a:rPr>
              <a:t>PlayerID</a:t>
            </a:r>
            <a:r>
              <a:rPr lang="en-US" sz="900" dirty="0">
                <a:cs typeface="Times New Roman" panose="02020603050405020304" pitchFamily="18" charset="0"/>
              </a:rPr>
              <a:t>)</a:t>
            </a:r>
          </a:p>
          <a:p>
            <a:pPr marL="114300" indent="0">
              <a:buNone/>
            </a:pPr>
            <a:r>
              <a:rPr lang="en-US" sz="900" dirty="0">
                <a:cs typeface="Times New Roman" panose="02020603050405020304" pitchFamily="18" charset="0"/>
              </a:rPr>
              <a:t>ALL_STAR_PLAYER(</a:t>
            </a:r>
            <a:r>
              <a:rPr lang="en-US" sz="900" dirty="0" err="1">
                <a:cs typeface="Times New Roman" panose="02020603050405020304" pitchFamily="18" charset="0"/>
              </a:rPr>
              <a:t>PlayerID</a:t>
            </a:r>
            <a:r>
              <a:rPr lang="en-US" sz="900" dirty="0">
                <a:cs typeface="Times New Roman" panose="02020603050405020304" pitchFamily="18" charset="0"/>
              </a:rPr>
              <a:t>)</a:t>
            </a:r>
          </a:p>
          <a:p>
            <a:pPr marL="114300" indent="0">
              <a:buNone/>
            </a:pPr>
            <a:r>
              <a:rPr lang="en-US" sz="900" dirty="0">
                <a:cs typeface="Times New Roman" panose="02020603050405020304" pitchFamily="18" charset="0"/>
              </a:rPr>
              <a:t>DRAFT_PICK(</a:t>
            </a:r>
            <a:r>
              <a:rPr lang="en-US" sz="900" dirty="0" err="1">
                <a:cs typeface="Times New Roman" panose="02020603050405020304" pitchFamily="18" charset="0"/>
              </a:rPr>
              <a:t>PlayerID</a:t>
            </a:r>
            <a:r>
              <a:rPr lang="en-US" sz="900" dirty="0">
                <a:cs typeface="Times New Roman" panose="02020603050405020304" pitchFamily="18" charset="0"/>
              </a:rPr>
              <a:t>)</a:t>
            </a:r>
          </a:p>
          <a:p>
            <a:pPr marL="114300" indent="0">
              <a:buNone/>
            </a:pPr>
            <a:endParaRPr 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48F39F-194E-D037-9ED9-DFFAEACE55A5}"/>
              </a:ext>
            </a:extLst>
          </p:cNvPr>
          <p:cNvSpPr txBox="1"/>
          <p:nvPr/>
        </p:nvSpPr>
        <p:spPr>
          <a:xfrm>
            <a:off x="58769" y="2117383"/>
            <a:ext cx="2315800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 dirty="0">
                <a:latin typeface="+mn-lt"/>
                <a:cs typeface="Times New Roman" panose="02020603050405020304" pitchFamily="18" charset="0"/>
              </a:rPr>
              <a:t>TEAM(</a:t>
            </a:r>
            <a:r>
              <a:rPr lang="en-US" sz="900" b="1" dirty="0" err="1">
                <a:latin typeface="+mn-lt"/>
                <a:cs typeface="Times New Roman" panose="02020603050405020304" pitchFamily="18" charset="0"/>
              </a:rPr>
              <a:t>TeamID</a:t>
            </a:r>
            <a:r>
              <a:rPr lang="en-US" sz="900" b="1" dirty="0">
                <a:latin typeface="+mn-lt"/>
                <a:cs typeface="Times New Roman" panose="02020603050405020304" pitchFamily="18" charset="0"/>
              </a:rPr>
              <a:t>, </a:t>
            </a:r>
            <a:r>
              <a:rPr lang="en-US" sz="900" b="1" dirty="0" err="1">
                <a:latin typeface="+mn-lt"/>
                <a:cs typeface="Times New Roman" panose="02020603050405020304" pitchFamily="18" charset="0"/>
              </a:rPr>
              <a:t>TeamName</a:t>
            </a:r>
            <a:r>
              <a:rPr lang="en-US" sz="900" b="1" dirty="0">
                <a:latin typeface="+mn-lt"/>
                <a:cs typeface="Times New Roman" panose="02020603050405020304" pitchFamily="18" charset="0"/>
              </a:rPr>
              <a:t>, City, </a:t>
            </a:r>
            <a:r>
              <a:rPr lang="en-US" sz="900" b="1" dirty="0" err="1">
                <a:latin typeface="+mn-lt"/>
                <a:cs typeface="Times New Roman" panose="02020603050405020304" pitchFamily="18" charset="0"/>
              </a:rPr>
              <a:t>ArenaName</a:t>
            </a:r>
            <a:r>
              <a:rPr lang="en-US" sz="900" b="1" dirty="0">
                <a:latin typeface="+mn-lt"/>
                <a:cs typeface="Times New Roman" panose="02020603050405020304" pitchFamily="18" charset="0"/>
              </a:rPr>
              <a:t>)</a:t>
            </a:r>
          </a:p>
          <a:p>
            <a:r>
              <a:rPr lang="en-US" sz="900" b="1" dirty="0">
                <a:latin typeface="+mn-lt"/>
                <a:cs typeface="Times New Roman" panose="02020603050405020304" pitchFamily="18" charset="0"/>
              </a:rPr>
              <a:t>Primary Key: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latin typeface="+mn-lt"/>
                <a:cs typeface="Times New Roman" panose="02020603050405020304" pitchFamily="18" charset="0"/>
              </a:rPr>
              <a:t>TeamID</a:t>
            </a:r>
            <a:br>
              <a:rPr lang="en-US" sz="900" dirty="0">
                <a:latin typeface="+mn-lt"/>
                <a:cs typeface="Times New Roman" panose="02020603050405020304" pitchFamily="18" charset="0"/>
              </a:rPr>
            </a:br>
            <a:r>
              <a:rPr lang="en-US" sz="900" b="1" dirty="0">
                <a:latin typeface="+mn-lt"/>
                <a:cs typeface="Times New Roman" panose="02020603050405020304" pitchFamily="18" charset="0"/>
              </a:rPr>
              <a:t>Referenced in:</a:t>
            </a:r>
            <a:endParaRPr lang="en-US" sz="900" dirty="0">
              <a:latin typeface="+mn-lt"/>
              <a:cs typeface="Times New Roman" panose="02020603050405020304" pitchFamily="18" charset="0"/>
            </a:endParaRPr>
          </a:p>
          <a:p>
            <a:r>
              <a:rPr lang="en-US" sz="900" dirty="0">
                <a:latin typeface="+mn-lt"/>
                <a:cs typeface="Times New Roman" panose="02020603050405020304" pitchFamily="18" charset="0"/>
              </a:rPr>
              <a:t>PLAYER_TEAM(</a:t>
            </a:r>
            <a:r>
              <a:rPr lang="en-US" sz="900" dirty="0" err="1">
                <a:latin typeface="+mn-lt"/>
                <a:cs typeface="Times New Roman" panose="02020603050405020304" pitchFamily="18" charset="0"/>
              </a:rPr>
              <a:t>TeamID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)</a:t>
            </a:r>
          </a:p>
          <a:p>
            <a:r>
              <a:rPr lang="en-US" sz="900" dirty="0">
                <a:latin typeface="+mn-lt"/>
                <a:cs typeface="Times New Roman" panose="02020603050405020304" pitchFamily="18" charset="0"/>
              </a:rPr>
              <a:t>GAME(</a:t>
            </a:r>
            <a:r>
              <a:rPr lang="en-US" sz="900" dirty="0" err="1">
                <a:latin typeface="+mn-lt"/>
                <a:cs typeface="Times New Roman" panose="02020603050405020304" pitchFamily="18" charset="0"/>
              </a:rPr>
              <a:t>HomeTeamID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), GAME(</a:t>
            </a:r>
            <a:r>
              <a:rPr lang="en-US" sz="900" dirty="0" err="1">
                <a:latin typeface="+mn-lt"/>
                <a:cs typeface="Times New Roman" panose="02020603050405020304" pitchFamily="18" charset="0"/>
              </a:rPr>
              <a:t>AwayTeamID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), GAME(Winner)</a:t>
            </a:r>
          </a:p>
          <a:p>
            <a:r>
              <a:rPr lang="en-US" sz="900" dirty="0">
                <a:latin typeface="+mn-lt"/>
                <a:cs typeface="Times New Roman" panose="02020603050405020304" pitchFamily="18" charset="0"/>
              </a:rPr>
              <a:t>ALL_STAR(</a:t>
            </a:r>
            <a:r>
              <a:rPr lang="en-US" sz="900" dirty="0" err="1">
                <a:latin typeface="+mn-lt"/>
                <a:cs typeface="Times New Roman" panose="02020603050405020304" pitchFamily="18" charset="0"/>
              </a:rPr>
              <a:t>WinnerTeam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)</a:t>
            </a:r>
          </a:p>
          <a:p>
            <a:pPr>
              <a:buNone/>
            </a:pPr>
            <a:endParaRPr lang="en-US" sz="900" dirty="0">
              <a:latin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A2A10E-E285-AD4A-1CBF-9499FFE9F0B1}"/>
              </a:ext>
            </a:extLst>
          </p:cNvPr>
          <p:cNvSpPr txBox="1"/>
          <p:nvPr/>
        </p:nvSpPr>
        <p:spPr>
          <a:xfrm>
            <a:off x="58769" y="3358078"/>
            <a:ext cx="2284994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latin typeface="+mn-lt"/>
                <a:cs typeface="Times New Roman" panose="02020603050405020304" pitchFamily="18" charset="0"/>
              </a:rPr>
              <a:t>PLAYER_TEAM(</a:t>
            </a:r>
            <a:r>
              <a:rPr lang="en-US" sz="900" b="1" dirty="0" err="1">
                <a:latin typeface="+mn-lt"/>
                <a:cs typeface="Times New Roman" panose="02020603050405020304" pitchFamily="18" charset="0"/>
              </a:rPr>
              <a:t>PlayerID</a:t>
            </a:r>
            <a:r>
              <a:rPr lang="en-US" sz="900" b="1" dirty="0">
                <a:latin typeface="+mn-lt"/>
                <a:cs typeface="Times New Roman" panose="02020603050405020304" pitchFamily="18" charset="0"/>
              </a:rPr>
              <a:t>, </a:t>
            </a:r>
            <a:r>
              <a:rPr lang="en-US" sz="900" b="1" dirty="0" err="1">
                <a:latin typeface="+mn-lt"/>
                <a:cs typeface="Times New Roman" panose="02020603050405020304" pitchFamily="18" charset="0"/>
              </a:rPr>
              <a:t>TeamID</a:t>
            </a:r>
            <a:r>
              <a:rPr lang="en-US" sz="900" b="1" dirty="0">
                <a:latin typeface="+mn-lt"/>
                <a:cs typeface="Times New Roman" panose="02020603050405020304" pitchFamily="18" charset="0"/>
              </a:rPr>
              <a:t>, Position, Traded)</a:t>
            </a:r>
          </a:p>
          <a:p>
            <a:r>
              <a:rPr lang="en-US" sz="900" b="1" dirty="0">
                <a:latin typeface="+mn-lt"/>
                <a:cs typeface="Times New Roman" panose="02020603050405020304" pitchFamily="18" charset="0"/>
              </a:rPr>
              <a:t>Primary Key: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 (</a:t>
            </a:r>
            <a:r>
              <a:rPr lang="en-US" sz="900" dirty="0" err="1">
                <a:latin typeface="+mn-lt"/>
                <a:cs typeface="Times New Roman" panose="02020603050405020304" pitchFamily="18" charset="0"/>
              </a:rPr>
              <a:t>PlayerID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, </a:t>
            </a:r>
            <a:r>
              <a:rPr lang="en-US" sz="900" dirty="0" err="1">
                <a:latin typeface="+mn-lt"/>
                <a:cs typeface="Times New Roman" panose="02020603050405020304" pitchFamily="18" charset="0"/>
              </a:rPr>
              <a:t>TeamID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)</a:t>
            </a:r>
            <a:br>
              <a:rPr lang="en-US" sz="900" dirty="0">
                <a:latin typeface="+mn-lt"/>
                <a:cs typeface="Times New Roman" panose="02020603050405020304" pitchFamily="18" charset="0"/>
              </a:rPr>
            </a:br>
            <a:r>
              <a:rPr lang="en-US" sz="900" b="1" dirty="0">
                <a:latin typeface="+mn-lt"/>
                <a:cs typeface="Times New Roman" panose="02020603050405020304" pitchFamily="18" charset="0"/>
              </a:rPr>
              <a:t>Foreign Keys:</a:t>
            </a:r>
            <a:endParaRPr lang="en-US" sz="900" dirty="0">
              <a:latin typeface="+mn-lt"/>
              <a:cs typeface="Times New Roman" panose="02020603050405020304" pitchFamily="18" charset="0"/>
            </a:endParaRPr>
          </a:p>
          <a:p>
            <a:r>
              <a:rPr lang="en-US" sz="900" dirty="0" err="1">
                <a:latin typeface="+mn-lt"/>
                <a:cs typeface="Times New Roman" panose="02020603050405020304" pitchFamily="18" charset="0"/>
              </a:rPr>
              <a:t>PlayerID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 → PLAYER(</a:t>
            </a:r>
            <a:r>
              <a:rPr lang="en-US" sz="900" dirty="0" err="1">
                <a:latin typeface="+mn-lt"/>
                <a:cs typeface="Times New Roman" panose="02020603050405020304" pitchFamily="18" charset="0"/>
              </a:rPr>
              <a:t>PlayerID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)</a:t>
            </a:r>
          </a:p>
          <a:p>
            <a:r>
              <a:rPr lang="en-US" sz="900" dirty="0" err="1">
                <a:latin typeface="+mn-lt"/>
                <a:cs typeface="Times New Roman" panose="02020603050405020304" pitchFamily="18" charset="0"/>
              </a:rPr>
              <a:t>TeamID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 → TEAM(</a:t>
            </a:r>
            <a:r>
              <a:rPr lang="en-US" sz="900" dirty="0" err="1">
                <a:latin typeface="+mn-lt"/>
                <a:cs typeface="Times New Roman" panose="02020603050405020304" pitchFamily="18" charset="0"/>
              </a:rPr>
              <a:t>TeamID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)</a:t>
            </a:r>
          </a:p>
          <a:p>
            <a:endParaRPr lang="en-US" sz="9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84FD97-31BC-8B39-E257-C56C2C06CF71}"/>
              </a:ext>
            </a:extLst>
          </p:cNvPr>
          <p:cNvSpPr txBox="1"/>
          <p:nvPr/>
        </p:nvSpPr>
        <p:spPr>
          <a:xfrm>
            <a:off x="2332136" y="609139"/>
            <a:ext cx="2717074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latin typeface="+mn-lt"/>
                <a:cs typeface="Times New Roman" panose="02020603050405020304" pitchFamily="18" charset="0"/>
              </a:rPr>
              <a:t>PLAYER_SEASON(</a:t>
            </a:r>
            <a:r>
              <a:rPr lang="en-US" sz="900" b="1" dirty="0" err="1">
                <a:latin typeface="+mn-lt"/>
                <a:cs typeface="Times New Roman" panose="02020603050405020304" pitchFamily="18" charset="0"/>
              </a:rPr>
              <a:t>PlayerID</a:t>
            </a:r>
            <a:r>
              <a:rPr lang="en-US" sz="900" b="1" dirty="0">
                <a:latin typeface="+mn-lt"/>
                <a:cs typeface="Times New Roman" panose="02020603050405020304" pitchFamily="18" charset="0"/>
              </a:rPr>
              <a:t>, </a:t>
            </a:r>
            <a:r>
              <a:rPr lang="en-US" sz="900" b="1" dirty="0" err="1">
                <a:latin typeface="+mn-lt"/>
                <a:cs typeface="Times New Roman" panose="02020603050405020304" pitchFamily="18" charset="0"/>
              </a:rPr>
              <a:t>SeasonID</a:t>
            </a:r>
            <a:r>
              <a:rPr lang="en-US" sz="900" b="1" dirty="0">
                <a:latin typeface="+mn-lt"/>
                <a:cs typeface="Times New Roman" panose="02020603050405020304" pitchFamily="18" charset="0"/>
              </a:rPr>
              <a:t>, Team)</a:t>
            </a:r>
          </a:p>
          <a:p>
            <a:r>
              <a:rPr lang="en-US" sz="900" b="1" dirty="0">
                <a:latin typeface="+mn-lt"/>
                <a:cs typeface="Times New Roman" panose="02020603050405020304" pitchFamily="18" charset="0"/>
              </a:rPr>
              <a:t>Primary Key: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 (</a:t>
            </a:r>
            <a:r>
              <a:rPr lang="en-US" sz="900" dirty="0" err="1">
                <a:latin typeface="+mn-lt"/>
                <a:cs typeface="Times New Roman" panose="02020603050405020304" pitchFamily="18" charset="0"/>
              </a:rPr>
              <a:t>PlayerID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, </a:t>
            </a:r>
            <a:r>
              <a:rPr lang="en-US" sz="900" dirty="0" err="1">
                <a:latin typeface="+mn-lt"/>
                <a:cs typeface="Times New Roman" panose="02020603050405020304" pitchFamily="18" charset="0"/>
              </a:rPr>
              <a:t>SeasonID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)</a:t>
            </a:r>
            <a:br>
              <a:rPr lang="en-US" sz="900" dirty="0">
                <a:latin typeface="+mn-lt"/>
                <a:cs typeface="Times New Roman" panose="02020603050405020304" pitchFamily="18" charset="0"/>
              </a:rPr>
            </a:br>
            <a:r>
              <a:rPr lang="en-US" sz="900" b="1" dirty="0">
                <a:latin typeface="+mn-lt"/>
                <a:cs typeface="Times New Roman" panose="02020603050405020304" pitchFamily="18" charset="0"/>
              </a:rPr>
              <a:t>Foreign Keys:</a:t>
            </a:r>
            <a:endParaRPr lang="en-US" sz="900" dirty="0">
              <a:latin typeface="+mn-lt"/>
              <a:cs typeface="Times New Roman" panose="02020603050405020304" pitchFamily="18" charset="0"/>
            </a:endParaRPr>
          </a:p>
          <a:p>
            <a:r>
              <a:rPr lang="en-US" sz="900" dirty="0" err="1">
                <a:latin typeface="+mn-lt"/>
                <a:cs typeface="Times New Roman" panose="02020603050405020304" pitchFamily="18" charset="0"/>
              </a:rPr>
              <a:t>PlayerID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 → PLAYER(</a:t>
            </a:r>
            <a:r>
              <a:rPr lang="en-US" sz="900" dirty="0" err="1">
                <a:latin typeface="+mn-lt"/>
                <a:cs typeface="Times New Roman" panose="02020603050405020304" pitchFamily="18" charset="0"/>
              </a:rPr>
              <a:t>PlayerID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)</a:t>
            </a:r>
          </a:p>
          <a:p>
            <a:r>
              <a:rPr lang="en-US" sz="900" dirty="0" err="1">
                <a:latin typeface="+mn-lt"/>
                <a:cs typeface="Times New Roman" panose="02020603050405020304" pitchFamily="18" charset="0"/>
              </a:rPr>
              <a:t>SeasonID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 → SEASON(</a:t>
            </a:r>
            <a:r>
              <a:rPr lang="en-US" sz="900" dirty="0" err="1">
                <a:latin typeface="+mn-lt"/>
                <a:cs typeface="Times New Roman" panose="02020603050405020304" pitchFamily="18" charset="0"/>
              </a:rPr>
              <a:t>SeasonID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078D8B-DCAB-7F5B-C3A0-5A3AC03C7021}"/>
              </a:ext>
            </a:extLst>
          </p:cNvPr>
          <p:cNvSpPr txBox="1"/>
          <p:nvPr/>
        </p:nvSpPr>
        <p:spPr>
          <a:xfrm>
            <a:off x="2332136" y="1586468"/>
            <a:ext cx="22225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latin typeface="+mn-lt"/>
                <a:cs typeface="Times New Roman" panose="02020603050405020304" pitchFamily="18" charset="0"/>
              </a:rPr>
              <a:t>STATISTICS(</a:t>
            </a:r>
            <a:r>
              <a:rPr lang="en-US" sz="900" b="1" dirty="0" err="1">
                <a:latin typeface="+mn-lt"/>
                <a:cs typeface="Times New Roman" panose="02020603050405020304" pitchFamily="18" charset="0"/>
              </a:rPr>
              <a:t>StatsID</a:t>
            </a:r>
            <a:r>
              <a:rPr lang="en-US" sz="900" b="1" dirty="0">
                <a:latin typeface="+mn-lt"/>
                <a:cs typeface="Times New Roman" panose="02020603050405020304" pitchFamily="18" charset="0"/>
              </a:rPr>
              <a:t>, </a:t>
            </a:r>
            <a:r>
              <a:rPr lang="en-US" sz="900" b="1" dirty="0" err="1">
                <a:latin typeface="+mn-lt"/>
                <a:cs typeface="Times New Roman" panose="02020603050405020304" pitchFamily="18" charset="0"/>
              </a:rPr>
              <a:t>PlayerID</a:t>
            </a:r>
            <a:r>
              <a:rPr lang="en-US" sz="900" b="1" dirty="0">
                <a:latin typeface="+mn-lt"/>
                <a:cs typeface="Times New Roman" panose="02020603050405020304" pitchFamily="18" charset="0"/>
              </a:rPr>
              <a:t>, </a:t>
            </a:r>
            <a:r>
              <a:rPr lang="en-US" sz="900" b="1" dirty="0" err="1">
                <a:latin typeface="+mn-lt"/>
                <a:cs typeface="Times New Roman" panose="02020603050405020304" pitchFamily="18" charset="0"/>
              </a:rPr>
              <a:t>SeasonID</a:t>
            </a:r>
            <a:r>
              <a:rPr lang="en-US" sz="900" b="1" dirty="0">
                <a:latin typeface="+mn-lt"/>
                <a:cs typeface="Times New Roman" panose="02020603050405020304" pitchFamily="18" charset="0"/>
              </a:rPr>
              <a:t>, </a:t>
            </a:r>
            <a:r>
              <a:rPr lang="en-US" sz="900" b="1" dirty="0" err="1">
                <a:latin typeface="+mn-lt"/>
                <a:cs typeface="Times New Roman" panose="02020603050405020304" pitchFamily="18" charset="0"/>
              </a:rPr>
              <a:t>TeamID</a:t>
            </a:r>
            <a:r>
              <a:rPr lang="en-US" sz="900" b="1" dirty="0">
                <a:latin typeface="+mn-lt"/>
                <a:cs typeface="Times New Roman" panose="02020603050405020304" pitchFamily="18" charset="0"/>
              </a:rPr>
              <a:t>, Points, Rebounds, Assist, Steals, Blocks)</a:t>
            </a:r>
          </a:p>
          <a:p>
            <a:r>
              <a:rPr lang="en-US" sz="900" b="1" dirty="0">
                <a:latin typeface="+mn-lt"/>
                <a:cs typeface="Times New Roman" panose="02020603050405020304" pitchFamily="18" charset="0"/>
              </a:rPr>
              <a:t>Primary Key: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latin typeface="+mn-lt"/>
                <a:cs typeface="Times New Roman" panose="02020603050405020304" pitchFamily="18" charset="0"/>
              </a:rPr>
              <a:t>StatsID</a:t>
            </a:r>
            <a:br>
              <a:rPr lang="en-US" sz="900" dirty="0">
                <a:latin typeface="+mn-lt"/>
                <a:cs typeface="Times New Roman" panose="02020603050405020304" pitchFamily="18" charset="0"/>
              </a:rPr>
            </a:br>
            <a:r>
              <a:rPr lang="en-US" sz="900" b="1" dirty="0">
                <a:latin typeface="+mn-lt"/>
                <a:cs typeface="Times New Roman" panose="02020603050405020304" pitchFamily="18" charset="0"/>
              </a:rPr>
              <a:t>Foreign Keys:</a:t>
            </a:r>
            <a:endParaRPr lang="en-US" sz="900" dirty="0">
              <a:latin typeface="+mn-lt"/>
              <a:cs typeface="Times New Roman" panose="02020603050405020304" pitchFamily="18" charset="0"/>
            </a:endParaRPr>
          </a:p>
          <a:p>
            <a:r>
              <a:rPr lang="en-US" sz="900" dirty="0" err="1">
                <a:latin typeface="+mn-lt"/>
                <a:cs typeface="Times New Roman" panose="02020603050405020304" pitchFamily="18" charset="0"/>
              </a:rPr>
              <a:t>PlayerID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 → PLAYER(</a:t>
            </a:r>
            <a:r>
              <a:rPr lang="en-US" sz="900" dirty="0" err="1">
                <a:latin typeface="+mn-lt"/>
                <a:cs typeface="Times New Roman" panose="02020603050405020304" pitchFamily="18" charset="0"/>
              </a:rPr>
              <a:t>PlayerID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)</a:t>
            </a:r>
          </a:p>
          <a:p>
            <a:r>
              <a:rPr lang="en-US" sz="900" dirty="0" err="1">
                <a:latin typeface="+mn-lt"/>
                <a:cs typeface="Times New Roman" panose="02020603050405020304" pitchFamily="18" charset="0"/>
              </a:rPr>
              <a:t>SeasonID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 → SEASON(</a:t>
            </a:r>
            <a:r>
              <a:rPr lang="en-US" sz="900" dirty="0" err="1">
                <a:latin typeface="+mn-lt"/>
                <a:cs typeface="Times New Roman" panose="02020603050405020304" pitchFamily="18" charset="0"/>
              </a:rPr>
              <a:t>SeasonID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)</a:t>
            </a:r>
          </a:p>
          <a:p>
            <a:r>
              <a:rPr lang="en-US" sz="900" dirty="0" err="1">
                <a:latin typeface="+mn-lt"/>
                <a:cs typeface="Times New Roman" panose="02020603050405020304" pitchFamily="18" charset="0"/>
              </a:rPr>
              <a:t>TeamID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 → TEAM(</a:t>
            </a:r>
            <a:r>
              <a:rPr lang="en-US" sz="900" dirty="0" err="1">
                <a:latin typeface="+mn-lt"/>
                <a:cs typeface="Times New Roman" panose="02020603050405020304" pitchFamily="18" charset="0"/>
              </a:rPr>
              <a:t>TeamID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8140E2-211F-0F6F-B2BA-9F9D81BA54F7}"/>
              </a:ext>
            </a:extLst>
          </p:cNvPr>
          <p:cNvSpPr txBox="1"/>
          <p:nvPr/>
        </p:nvSpPr>
        <p:spPr>
          <a:xfrm>
            <a:off x="2343763" y="3018988"/>
            <a:ext cx="25996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latin typeface="+mn-lt"/>
                <a:cs typeface="Times New Roman" panose="02020603050405020304" pitchFamily="18" charset="0"/>
              </a:rPr>
              <a:t>SEASON(</a:t>
            </a:r>
            <a:r>
              <a:rPr lang="en-US" sz="900" b="1" dirty="0" err="1">
                <a:latin typeface="+mn-lt"/>
                <a:cs typeface="Times New Roman" panose="02020603050405020304" pitchFamily="18" charset="0"/>
              </a:rPr>
              <a:t>SeasonID</a:t>
            </a:r>
            <a:r>
              <a:rPr lang="en-US" sz="900" b="1" dirty="0">
                <a:latin typeface="+mn-lt"/>
                <a:cs typeface="Times New Roman" panose="02020603050405020304" pitchFamily="18" charset="0"/>
              </a:rPr>
              <a:t>, </a:t>
            </a:r>
            <a:r>
              <a:rPr lang="en-US" sz="900" b="1" dirty="0" err="1">
                <a:latin typeface="+mn-lt"/>
                <a:cs typeface="Times New Roman" panose="02020603050405020304" pitchFamily="18" charset="0"/>
              </a:rPr>
              <a:t>YearStart</a:t>
            </a:r>
            <a:r>
              <a:rPr lang="en-US" sz="900" b="1" dirty="0">
                <a:latin typeface="+mn-lt"/>
                <a:cs typeface="Times New Roman" panose="02020603050405020304" pitchFamily="18" charset="0"/>
              </a:rPr>
              <a:t>, </a:t>
            </a:r>
            <a:r>
              <a:rPr lang="en-US" sz="900" b="1" dirty="0" err="1">
                <a:latin typeface="+mn-lt"/>
                <a:cs typeface="Times New Roman" panose="02020603050405020304" pitchFamily="18" charset="0"/>
              </a:rPr>
              <a:t>YearEnd</a:t>
            </a:r>
            <a:r>
              <a:rPr lang="en-US" sz="900" b="1" dirty="0">
                <a:latin typeface="+mn-lt"/>
                <a:cs typeface="Times New Roman" panose="02020603050405020304" pitchFamily="18" charset="0"/>
              </a:rPr>
              <a:t>)</a:t>
            </a:r>
          </a:p>
          <a:p>
            <a:r>
              <a:rPr lang="en-US" sz="900" b="1" dirty="0">
                <a:latin typeface="+mn-lt"/>
                <a:cs typeface="Times New Roman" panose="02020603050405020304" pitchFamily="18" charset="0"/>
              </a:rPr>
              <a:t>Primary Key: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latin typeface="+mn-lt"/>
                <a:cs typeface="Times New Roman" panose="02020603050405020304" pitchFamily="18" charset="0"/>
              </a:rPr>
              <a:t>SeasonID</a:t>
            </a:r>
            <a:br>
              <a:rPr lang="en-US" sz="900" dirty="0">
                <a:latin typeface="+mn-lt"/>
                <a:cs typeface="Times New Roman" panose="02020603050405020304" pitchFamily="18" charset="0"/>
              </a:rPr>
            </a:br>
            <a:r>
              <a:rPr lang="en-US" sz="900" b="1" dirty="0">
                <a:latin typeface="+mn-lt"/>
                <a:cs typeface="Times New Roman" panose="02020603050405020304" pitchFamily="18" charset="0"/>
              </a:rPr>
              <a:t>Referenced in:</a:t>
            </a:r>
            <a:endParaRPr lang="en-US" sz="900" dirty="0">
              <a:latin typeface="+mn-lt"/>
              <a:cs typeface="Times New Roman" panose="02020603050405020304" pitchFamily="18" charset="0"/>
            </a:endParaRPr>
          </a:p>
          <a:p>
            <a:r>
              <a:rPr lang="en-US" sz="900" dirty="0">
                <a:latin typeface="+mn-lt"/>
                <a:cs typeface="Times New Roman" panose="02020603050405020304" pitchFamily="18" charset="0"/>
              </a:rPr>
              <a:t>PLAYER_SEASON(</a:t>
            </a:r>
            <a:r>
              <a:rPr lang="en-US" sz="900" dirty="0" err="1">
                <a:latin typeface="+mn-lt"/>
                <a:cs typeface="Times New Roman" panose="02020603050405020304" pitchFamily="18" charset="0"/>
              </a:rPr>
              <a:t>SeasonID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)</a:t>
            </a:r>
          </a:p>
          <a:p>
            <a:r>
              <a:rPr lang="en-US" sz="900" dirty="0">
                <a:latin typeface="+mn-lt"/>
                <a:cs typeface="Times New Roman" panose="02020603050405020304" pitchFamily="18" charset="0"/>
              </a:rPr>
              <a:t>STATISTICS(</a:t>
            </a:r>
            <a:r>
              <a:rPr lang="en-US" sz="900" dirty="0" err="1">
                <a:latin typeface="+mn-lt"/>
                <a:cs typeface="Times New Roman" panose="02020603050405020304" pitchFamily="18" charset="0"/>
              </a:rPr>
              <a:t>SeasonID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)</a:t>
            </a:r>
          </a:p>
          <a:p>
            <a:r>
              <a:rPr lang="en-US" sz="900" dirty="0">
                <a:latin typeface="+mn-lt"/>
                <a:cs typeface="Times New Roman" panose="02020603050405020304" pitchFamily="18" charset="0"/>
              </a:rPr>
              <a:t>DRAFT_PICK(</a:t>
            </a:r>
            <a:r>
              <a:rPr lang="en-US" sz="900" dirty="0" err="1">
                <a:latin typeface="+mn-lt"/>
                <a:cs typeface="Times New Roman" panose="02020603050405020304" pitchFamily="18" charset="0"/>
              </a:rPr>
              <a:t>SeasonID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)</a:t>
            </a:r>
          </a:p>
          <a:p>
            <a:r>
              <a:rPr lang="en-US" sz="900" dirty="0">
                <a:latin typeface="+mn-lt"/>
                <a:cs typeface="Times New Roman" panose="02020603050405020304" pitchFamily="18" charset="0"/>
              </a:rPr>
              <a:t>ALL_STAR(</a:t>
            </a:r>
            <a:r>
              <a:rPr lang="en-US" sz="900" dirty="0" err="1">
                <a:latin typeface="+mn-lt"/>
                <a:cs typeface="Times New Roman" panose="02020603050405020304" pitchFamily="18" charset="0"/>
              </a:rPr>
              <a:t>AllStarID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 links to Season)</a:t>
            </a:r>
          </a:p>
          <a:p>
            <a:endParaRPr lang="en-US" sz="900" dirty="0">
              <a:latin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E3F5B6-36C1-5D6D-8125-B209327033F3}"/>
              </a:ext>
            </a:extLst>
          </p:cNvPr>
          <p:cNvSpPr txBox="1"/>
          <p:nvPr/>
        </p:nvSpPr>
        <p:spPr>
          <a:xfrm>
            <a:off x="70396" y="4371172"/>
            <a:ext cx="226174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latin typeface="+mn-lt"/>
                <a:cs typeface="Times New Roman" panose="02020603050405020304" pitchFamily="18" charset="0"/>
              </a:rPr>
              <a:t>AWARD(</a:t>
            </a:r>
            <a:r>
              <a:rPr lang="en-US" sz="900" b="1" dirty="0" err="1">
                <a:latin typeface="+mn-lt"/>
                <a:cs typeface="Times New Roman" panose="02020603050405020304" pitchFamily="18" charset="0"/>
              </a:rPr>
              <a:t>AwardID</a:t>
            </a:r>
            <a:r>
              <a:rPr lang="en-US" sz="900" b="1" dirty="0">
                <a:latin typeface="+mn-lt"/>
                <a:cs typeface="Times New Roman" panose="02020603050405020304" pitchFamily="18" charset="0"/>
              </a:rPr>
              <a:t>, </a:t>
            </a:r>
            <a:r>
              <a:rPr lang="en-US" sz="900" b="1" dirty="0" err="1">
                <a:latin typeface="+mn-lt"/>
                <a:cs typeface="Times New Roman" panose="02020603050405020304" pitchFamily="18" charset="0"/>
              </a:rPr>
              <a:t>AwardName</a:t>
            </a:r>
            <a:r>
              <a:rPr lang="en-US" sz="900" b="1" dirty="0">
                <a:latin typeface="+mn-lt"/>
                <a:cs typeface="Times New Roman" panose="02020603050405020304" pitchFamily="18" charset="0"/>
              </a:rPr>
              <a:t>)</a:t>
            </a:r>
          </a:p>
          <a:p>
            <a:r>
              <a:rPr lang="en-US" sz="900" b="1" dirty="0">
                <a:latin typeface="+mn-lt"/>
                <a:cs typeface="Times New Roman" panose="02020603050405020304" pitchFamily="18" charset="0"/>
              </a:rPr>
              <a:t>Primary Key: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latin typeface="+mn-lt"/>
                <a:cs typeface="Times New Roman" panose="02020603050405020304" pitchFamily="18" charset="0"/>
              </a:rPr>
              <a:t>AwardID</a:t>
            </a:r>
            <a:endParaRPr lang="en-US" sz="900" dirty="0">
              <a:latin typeface="+mn-lt"/>
              <a:cs typeface="Times New Roman" panose="02020603050405020304" pitchFamily="18" charset="0"/>
            </a:endParaRPr>
          </a:p>
          <a:p>
            <a:endParaRPr lang="en-US" sz="900" dirty="0">
              <a:latin typeface="+mn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91D362-B201-4D86-D696-4A4FC44E5C82}"/>
              </a:ext>
            </a:extLst>
          </p:cNvPr>
          <p:cNvSpPr txBox="1"/>
          <p:nvPr/>
        </p:nvSpPr>
        <p:spPr>
          <a:xfrm>
            <a:off x="5182047" y="641049"/>
            <a:ext cx="3463523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latin typeface="+mn-lt"/>
                <a:cs typeface="Times New Roman" panose="02020603050405020304" pitchFamily="18" charset="0"/>
              </a:rPr>
              <a:t>PLAYER_AWARD(</a:t>
            </a:r>
            <a:r>
              <a:rPr lang="en-US" sz="900" b="1" dirty="0" err="1">
                <a:latin typeface="+mn-lt"/>
                <a:cs typeface="Times New Roman" panose="02020603050405020304" pitchFamily="18" charset="0"/>
              </a:rPr>
              <a:t>PlayerID</a:t>
            </a:r>
            <a:r>
              <a:rPr lang="en-US" sz="900" b="1" dirty="0">
                <a:latin typeface="+mn-lt"/>
                <a:cs typeface="Times New Roman" panose="02020603050405020304" pitchFamily="18" charset="0"/>
              </a:rPr>
              <a:t>, </a:t>
            </a:r>
            <a:r>
              <a:rPr lang="en-US" sz="900" b="1" dirty="0" err="1">
                <a:latin typeface="+mn-lt"/>
                <a:cs typeface="Times New Roman" panose="02020603050405020304" pitchFamily="18" charset="0"/>
              </a:rPr>
              <a:t>AwardID</a:t>
            </a:r>
            <a:r>
              <a:rPr lang="en-US" sz="900" b="1" dirty="0">
                <a:latin typeface="+mn-lt"/>
                <a:cs typeface="Times New Roman" panose="02020603050405020304" pitchFamily="18" charset="0"/>
              </a:rPr>
              <a:t>, </a:t>
            </a:r>
            <a:r>
              <a:rPr lang="en-US" sz="900" b="1" dirty="0" err="1">
                <a:latin typeface="+mn-lt"/>
                <a:cs typeface="Times New Roman" panose="02020603050405020304" pitchFamily="18" charset="0"/>
              </a:rPr>
              <a:t>AwardYear</a:t>
            </a:r>
            <a:r>
              <a:rPr lang="en-US" sz="900" b="1" dirty="0">
                <a:latin typeface="+mn-lt"/>
                <a:cs typeface="Times New Roman" panose="02020603050405020304" pitchFamily="18" charset="0"/>
              </a:rPr>
              <a:t>)</a:t>
            </a:r>
          </a:p>
          <a:p>
            <a:r>
              <a:rPr lang="en-US" sz="900" b="1" dirty="0">
                <a:latin typeface="+mn-lt"/>
                <a:cs typeface="Times New Roman" panose="02020603050405020304" pitchFamily="18" charset="0"/>
              </a:rPr>
              <a:t>Primary Key: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 (</a:t>
            </a:r>
            <a:r>
              <a:rPr lang="en-US" sz="900" dirty="0" err="1">
                <a:latin typeface="+mn-lt"/>
                <a:cs typeface="Times New Roman" panose="02020603050405020304" pitchFamily="18" charset="0"/>
              </a:rPr>
              <a:t>PlayerID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, </a:t>
            </a:r>
            <a:r>
              <a:rPr lang="en-US" sz="900" dirty="0" err="1">
                <a:latin typeface="+mn-lt"/>
                <a:cs typeface="Times New Roman" panose="02020603050405020304" pitchFamily="18" charset="0"/>
              </a:rPr>
              <a:t>AwardID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, </a:t>
            </a:r>
            <a:r>
              <a:rPr lang="en-US" sz="900" dirty="0" err="1">
                <a:latin typeface="+mn-lt"/>
                <a:cs typeface="Times New Roman" panose="02020603050405020304" pitchFamily="18" charset="0"/>
              </a:rPr>
              <a:t>AwardYear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)</a:t>
            </a:r>
            <a:br>
              <a:rPr lang="en-US" sz="900" dirty="0">
                <a:latin typeface="+mn-lt"/>
                <a:cs typeface="Times New Roman" panose="02020603050405020304" pitchFamily="18" charset="0"/>
              </a:rPr>
            </a:br>
            <a:r>
              <a:rPr lang="en-US" sz="900" b="1" dirty="0">
                <a:latin typeface="+mn-lt"/>
                <a:cs typeface="Times New Roman" panose="02020603050405020304" pitchFamily="18" charset="0"/>
              </a:rPr>
              <a:t>Foreign Keys:</a:t>
            </a:r>
            <a:endParaRPr lang="en-US" sz="900" dirty="0">
              <a:latin typeface="+mn-lt"/>
              <a:cs typeface="Times New Roman" panose="02020603050405020304" pitchFamily="18" charset="0"/>
            </a:endParaRPr>
          </a:p>
          <a:p>
            <a:r>
              <a:rPr lang="en-US" sz="900" dirty="0" err="1">
                <a:latin typeface="+mn-lt"/>
                <a:cs typeface="Times New Roman" panose="02020603050405020304" pitchFamily="18" charset="0"/>
              </a:rPr>
              <a:t>PlayerID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 → PLAYER(</a:t>
            </a:r>
            <a:r>
              <a:rPr lang="en-US" sz="900" dirty="0" err="1">
                <a:latin typeface="+mn-lt"/>
                <a:cs typeface="Times New Roman" panose="02020603050405020304" pitchFamily="18" charset="0"/>
              </a:rPr>
              <a:t>PlayerID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)</a:t>
            </a:r>
          </a:p>
          <a:p>
            <a:r>
              <a:rPr lang="en-US" sz="900" dirty="0" err="1">
                <a:latin typeface="+mn-lt"/>
                <a:cs typeface="Times New Roman" panose="02020603050405020304" pitchFamily="18" charset="0"/>
              </a:rPr>
              <a:t>AwardID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 → AWARD(</a:t>
            </a:r>
            <a:r>
              <a:rPr lang="en-US" sz="900" dirty="0" err="1">
                <a:latin typeface="+mn-lt"/>
                <a:cs typeface="Times New Roman" panose="02020603050405020304" pitchFamily="18" charset="0"/>
              </a:rPr>
              <a:t>AwardID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F1D2BE-82C0-F273-CB1B-4C7A6B744643}"/>
              </a:ext>
            </a:extLst>
          </p:cNvPr>
          <p:cNvSpPr txBox="1"/>
          <p:nvPr/>
        </p:nvSpPr>
        <p:spPr>
          <a:xfrm>
            <a:off x="2332136" y="4186506"/>
            <a:ext cx="410173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latin typeface="+mn-lt"/>
                <a:cs typeface="Times New Roman" panose="02020603050405020304" pitchFamily="18" charset="0"/>
              </a:rPr>
              <a:t>ALL_STAR(</a:t>
            </a:r>
            <a:r>
              <a:rPr lang="en-US" sz="900" b="1" dirty="0" err="1">
                <a:latin typeface="+mn-lt"/>
                <a:cs typeface="Times New Roman" panose="02020603050405020304" pitchFamily="18" charset="0"/>
              </a:rPr>
              <a:t>AllStarID</a:t>
            </a:r>
            <a:r>
              <a:rPr lang="en-US" sz="900" b="1" dirty="0">
                <a:latin typeface="+mn-lt"/>
                <a:cs typeface="Times New Roman" panose="02020603050405020304" pitchFamily="18" charset="0"/>
              </a:rPr>
              <a:t>, </a:t>
            </a:r>
            <a:r>
              <a:rPr lang="en-US" sz="900" b="1" dirty="0" err="1">
                <a:latin typeface="+mn-lt"/>
                <a:cs typeface="Times New Roman" panose="02020603050405020304" pitchFamily="18" charset="0"/>
              </a:rPr>
              <a:t>WinningTeam</a:t>
            </a:r>
            <a:r>
              <a:rPr lang="en-US" sz="900" b="1" dirty="0">
                <a:latin typeface="+mn-lt"/>
                <a:cs typeface="Times New Roman" panose="02020603050405020304" pitchFamily="18" charset="0"/>
              </a:rPr>
              <a:t>)</a:t>
            </a:r>
          </a:p>
          <a:p>
            <a:r>
              <a:rPr lang="en-US" sz="900" b="1" dirty="0">
                <a:latin typeface="+mn-lt"/>
                <a:cs typeface="Times New Roman" panose="02020603050405020304" pitchFamily="18" charset="0"/>
              </a:rPr>
              <a:t>Primary Key: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latin typeface="+mn-lt"/>
                <a:cs typeface="Times New Roman" panose="02020603050405020304" pitchFamily="18" charset="0"/>
              </a:rPr>
              <a:t>AllStarID</a:t>
            </a:r>
            <a:br>
              <a:rPr lang="en-US" sz="900" dirty="0">
                <a:latin typeface="+mn-lt"/>
                <a:cs typeface="Times New Roman" panose="02020603050405020304" pitchFamily="18" charset="0"/>
              </a:rPr>
            </a:br>
            <a:r>
              <a:rPr lang="en-US" sz="900" b="1" dirty="0">
                <a:latin typeface="+mn-lt"/>
                <a:cs typeface="Times New Roman" panose="02020603050405020304" pitchFamily="18" charset="0"/>
              </a:rPr>
              <a:t>Foreign Keys:</a:t>
            </a:r>
            <a:endParaRPr lang="en-US" sz="900" dirty="0">
              <a:latin typeface="+mn-lt"/>
              <a:cs typeface="Times New Roman" panose="02020603050405020304" pitchFamily="18" charset="0"/>
            </a:endParaRPr>
          </a:p>
          <a:p>
            <a:r>
              <a:rPr lang="en-US" sz="900" dirty="0" err="1">
                <a:latin typeface="+mn-lt"/>
                <a:cs typeface="Times New Roman" panose="02020603050405020304" pitchFamily="18" charset="0"/>
              </a:rPr>
              <a:t>WinningTeam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 → TEAM(</a:t>
            </a:r>
            <a:r>
              <a:rPr lang="en-US" sz="900" dirty="0" err="1">
                <a:latin typeface="+mn-lt"/>
                <a:cs typeface="Times New Roman" panose="02020603050405020304" pitchFamily="18" charset="0"/>
              </a:rPr>
              <a:t>TeamID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)</a:t>
            </a:r>
          </a:p>
          <a:p>
            <a:endParaRPr lang="en-US" sz="900" dirty="0">
              <a:latin typeface="+mn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E963C1-67DD-B344-F81D-C6B960F5630C}"/>
              </a:ext>
            </a:extLst>
          </p:cNvPr>
          <p:cNvSpPr txBox="1"/>
          <p:nvPr/>
        </p:nvSpPr>
        <p:spPr>
          <a:xfrm>
            <a:off x="5182047" y="1586468"/>
            <a:ext cx="38367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latin typeface="+mn-lt"/>
                <a:cs typeface="Times New Roman" panose="02020603050405020304" pitchFamily="18" charset="0"/>
              </a:rPr>
              <a:t>ALL_STAR_PLAYER(</a:t>
            </a:r>
            <a:r>
              <a:rPr lang="en-US" sz="900" b="1" dirty="0" err="1">
                <a:latin typeface="+mn-lt"/>
                <a:cs typeface="Times New Roman" panose="02020603050405020304" pitchFamily="18" charset="0"/>
              </a:rPr>
              <a:t>AllStarID</a:t>
            </a:r>
            <a:r>
              <a:rPr lang="en-US" sz="900" b="1" dirty="0">
                <a:latin typeface="+mn-lt"/>
                <a:cs typeface="Times New Roman" panose="02020603050405020304" pitchFamily="18" charset="0"/>
              </a:rPr>
              <a:t>, </a:t>
            </a:r>
            <a:r>
              <a:rPr lang="en-US" sz="900" b="1" dirty="0" err="1">
                <a:latin typeface="+mn-lt"/>
                <a:cs typeface="Times New Roman" panose="02020603050405020304" pitchFamily="18" charset="0"/>
              </a:rPr>
              <a:t>PlayerID</a:t>
            </a:r>
            <a:r>
              <a:rPr lang="en-US" sz="900" b="1" dirty="0">
                <a:latin typeface="+mn-lt"/>
                <a:cs typeface="Times New Roman" panose="02020603050405020304" pitchFamily="18" charset="0"/>
              </a:rPr>
              <a:t>, </a:t>
            </a:r>
            <a:r>
              <a:rPr lang="en-US" sz="900" b="1" dirty="0" err="1">
                <a:latin typeface="+mn-lt"/>
                <a:cs typeface="Times New Roman" panose="02020603050405020304" pitchFamily="18" charset="0"/>
              </a:rPr>
              <a:t>SelectionYear</a:t>
            </a:r>
            <a:r>
              <a:rPr lang="en-US" sz="900" b="1" dirty="0">
                <a:latin typeface="+mn-lt"/>
                <a:cs typeface="Times New Roman" panose="02020603050405020304" pitchFamily="18" charset="0"/>
              </a:rPr>
              <a:t>, Team)</a:t>
            </a:r>
          </a:p>
          <a:p>
            <a:r>
              <a:rPr lang="en-US" sz="900" b="1" dirty="0">
                <a:latin typeface="+mn-lt"/>
                <a:cs typeface="Times New Roman" panose="02020603050405020304" pitchFamily="18" charset="0"/>
              </a:rPr>
              <a:t>Primary Key: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 (</a:t>
            </a:r>
            <a:r>
              <a:rPr lang="en-US" sz="900" dirty="0" err="1">
                <a:latin typeface="+mn-lt"/>
                <a:cs typeface="Times New Roman" panose="02020603050405020304" pitchFamily="18" charset="0"/>
              </a:rPr>
              <a:t>AllStarID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, </a:t>
            </a:r>
            <a:r>
              <a:rPr lang="en-US" sz="900" dirty="0" err="1">
                <a:latin typeface="+mn-lt"/>
                <a:cs typeface="Times New Roman" panose="02020603050405020304" pitchFamily="18" charset="0"/>
              </a:rPr>
              <a:t>PlayerID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)</a:t>
            </a:r>
            <a:br>
              <a:rPr lang="en-US" sz="900" dirty="0">
                <a:latin typeface="+mn-lt"/>
                <a:cs typeface="Times New Roman" panose="02020603050405020304" pitchFamily="18" charset="0"/>
              </a:rPr>
            </a:br>
            <a:r>
              <a:rPr lang="en-US" sz="900" b="1" dirty="0">
                <a:latin typeface="+mn-lt"/>
                <a:cs typeface="Times New Roman" panose="02020603050405020304" pitchFamily="18" charset="0"/>
              </a:rPr>
              <a:t>Foreign Keys:</a:t>
            </a:r>
            <a:endParaRPr lang="en-US" sz="900" dirty="0">
              <a:latin typeface="+mn-lt"/>
              <a:cs typeface="Times New Roman" panose="02020603050405020304" pitchFamily="18" charset="0"/>
            </a:endParaRPr>
          </a:p>
          <a:p>
            <a:r>
              <a:rPr lang="en-US" sz="900" dirty="0" err="1">
                <a:latin typeface="+mn-lt"/>
                <a:cs typeface="Times New Roman" panose="02020603050405020304" pitchFamily="18" charset="0"/>
              </a:rPr>
              <a:t>AllStarID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 → ALL_STAR(</a:t>
            </a:r>
            <a:r>
              <a:rPr lang="en-US" sz="900" dirty="0" err="1">
                <a:latin typeface="+mn-lt"/>
                <a:cs typeface="Times New Roman" panose="02020603050405020304" pitchFamily="18" charset="0"/>
              </a:rPr>
              <a:t>AllStarID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)</a:t>
            </a:r>
          </a:p>
          <a:p>
            <a:r>
              <a:rPr lang="en-US" sz="900" dirty="0" err="1">
                <a:latin typeface="+mn-lt"/>
                <a:cs typeface="Times New Roman" panose="02020603050405020304" pitchFamily="18" charset="0"/>
              </a:rPr>
              <a:t>PlayerID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 → PLAYER(</a:t>
            </a:r>
            <a:r>
              <a:rPr lang="en-US" sz="900" dirty="0" err="1">
                <a:latin typeface="+mn-lt"/>
                <a:cs typeface="Times New Roman" panose="02020603050405020304" pitchFamily="18" charset="0"/>
              </a:rPr>
              <a:t>PlayerID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)</a:t>
            </a:r>
          </a:p>
          <a:p>
            <a:endParaRPr lang="en-US" sz="900" dirty="0">
              <a:latin typeface="+mn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8B11F59-6DC3-C89F-F888-1EEAAA79CA30}"/>
              </a:ext>
            </a:extLst>
          </p:cNvPr>
          <p:cNvSpPr txBox="1"/>
          <p:nvPr/>
        </p:nvSpPr>
        <p:spPr>
          <a:xfrm>
            <a:off x="5191553" y="2571750"/>
            <a:ext cx="39524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latin typeface="+mn-lt"/>
                <a:cs typeface="Times New Roman" panose="02020603050405020304" pitchFamily="18" charset="0"/>
              </a:rPr>
              <a:t>GAME(</a:t>
            </a:r>
            <a:r>
              <a:rPr lang="en-US" sz="900" b="1" dirty="0" err="1">
                <a:latin typeface="+mn-lt"/>
                <a:cs typeface="Times New Roman" panose="02020603050405020304" pitchFamily="18" charset="0"/>
              </a:rPr>
              <a:t>GameID</a:t>
            </a:r>
            <a:r>
              <a:rPr lang="en-US" sz="900" b="1" dirty="0">
                <a:latin typeface="+mn-lt"/>
                <a:cs typeface="Times New Roman" panose="02020603050405020304" pitchFamily="18" charset="0"/>
              </a:rPr>
              <a:t>, </a:t>
            </a:r>
            <a:r>
              <a:rPr lang="en-US" sz="900" b="1" dirty="0" err="1">
                <a:latin typeface="+mn-lt"/>
                <a:cs typeface="Times New Roman" panose="02020603050405020304" pitchFamily="18" charset="0"/>
              </a:rPr>
              <a:t>GameDate</a:t>
            </a:r>
            <a:r>
              <a:rPr lang="en-US" sz="900" b="1" dirty="0">
                <a:latin typeface="+mn-lt"/>
                <a:cs typeface="Times New Roman" panose="02020603050405020304" pitchFamily="18" charset="0"/>
              </a:rPr>
              <a:t>, </a:t>
            </a:r>
            <a:r>
              <a:rPr lang="en-US" sz="900" b="1" dirty="0" err="1">
                <a:latin typeface="+mn-lt"/>
                <a:cs typeface="Times New Roman" panose="02020603050405020304" pitchFamily="18" charset="0"/>
              </a:rPr>
              <a:t>HomeTeamID</a:t>
            </a:r>
            <a:r>
              <a:rPr lang="en-US" sz="900" b="1" dirty="0">
                <a:latin typeface="+mn-lt"/>
                <a:cs typeface="Times New Roman" panose="02020603050405020304" pitchFamily="18" charset="0"/>
              </a:rPr>
              <a:t>, </a:t>
            </a:r>
            <a:r>
              <a:rPr lang="en-US" sz="900" b="1" dirty="0" err="1">
                <a:latin typeface="+mn-lt"/>
                <a:cs typeface="Times New Roman" panose="02020603050405020304" pitchFamily="18" charset="0"/>
              </a:rPr>
              <a:t>AwayTeamID</a:t>
            </a:r>
            <a:r>
              <a:rPr lang="en-US" sz="900" b="1" dirty="0">
                <a:latin typeface="+mn-lt"/>
                <a:cs typeface="Times New Roman" panose="02020603050405020304" pitchFamily="18" charset="0"/>
              </a:rPr>
              <a:t>, </a:t>
            </a:r>
            <a:r>
              <a:rPr lang="en-US" sz="900" b="1" dirty="0" err="1">
                <a:latin typeface="+mn-lt"/>
                <a:cs typeface="Times New Roman" panose="02020603050405020304" pitchFamily="18" charset="0"/>
              </a:rPr>
              <a:t>HomeScore</a:t>
            </a:r>
            <a:r>
              <a:rPr lang="en-US" sz="900" b="1" dirty="0">
                <a:latin typeface="+mn-lt"/>
                <a:cs typeface="Times New Roman" panose="02020603050405020304" pitchFamily="18" charset="0"/>
              </a:rPr>
              <a:t>, </a:t>
            </a:r>
            <a:r>
              <a:rPr lang="en-US" sz="900" b="1" dirty="0" err="1">
                <a:latin typeface="+mn-lt"/>
                <a:cs typeface="Times New Roman" panose="02020603050405020304" pitchFamily="18" charset="0"/>
              </a:rPr>
              <a:t>AwayScore</a:t>
            </a:r>
            <a:r>
              <a:rPr lang="en-US" sz="900" b="1" dirty="0">
                <a:latin typeface="+mn-lt"/>
                <a:cs typeface="Times New Roman" panose="02020603050405020304" pitchFamily="18" charset="0"/>
              </a:rPr>
              <a:t>, Winner)</a:t>
            </a:r>
          </a:p>
          <a:p>
            <a:r>
              <a:rPr lang="en-US" sz="900" b="1" dirty="0">
                <a:latin typeface="+mn-lt"/>
                <a:cs typeface="Times New Roman" panose="02020603050405020304" pitchFamily="18" charset="0"/>
              </a:rPr>
              <a:t>Primary Key: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latin typeface="+mn-lt"/>
                <a:cs typeface="Times New Roman" panose="02020603050405020304" pitchFamily="18" charset="0"/>
              </a:rPr>
              <a:t>GameID</a:t>
            </a:r>
            <a:br>
              <a:rPr lang="en-US" sz="900" dirty="0">
                <a:latin typeface="+mn-lt"/>
                <a:cs typeface="Times New Roman" panose="02020603050405020304" pitchFamily="18" charset="0"/>
              </a:rPr>
            </a:br>
            <a:r>
              <a:rPr lang="en-US" sz="900" b="1" dirty="0">
                <a:latin typeface="+mn-lt"/>
                <a:cs typeface="Times New Roman" panose="02020603050405020304" pitchFamily="18" charset="0"/>
              </a:rPr>
              <a:t>Foreign Keys:</a:t>
            </a:r>
            <a:endParaRPr lang="en-US" sz="900" dirty="0">
              <a:latin typeface="+mn-lt"/>
              <a:cs typeface="Times New Roman" panose="02020603050405020304" pitchFamily="18" charset="0"/>
            </a:endParaRPr>
          </a:p>
          <a:p>
            <a:r>
              <a:rPr lang="en-US" sz="900" dirty="0" err="1">
                <a:latin typeface="+mn-lt"/>
                <a:cs typeface="Times New Roman" panose="02020603050405020304" pitchFamily="18" charset="0"/>
              </a:rPr>
              <a:t>HomeTeamID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 → TEAM(</a:t>
            </a:r>
            <a:r>
              <a:rPr lang="en-US" sz="900" dirty="0" err="1">
                <a:latin typeface="+mn-lt"/>
                <a:cs typeface="Times New Roman" panose="02020603050405020304" pitchFamily="18" charset="0"/>
              </a:rPr>
              <a:t>TeamID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)</a:t>
            </a:r>
          </a:p>
          <a:p>
            <a:r>
              <a:rPr lang="en-US" sz="900" dirty="0" err="1">
                <a:latin typeface="+mn-lt"/>
                <a:cs typeface="Times New Roman" panose="02020603050405020304" pitchFamily="18" charset="0"/>
              </a:rPr>
              <a:t>AwayTeamID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 → TEAM(</a:t>
            </a:r>
            <a:r>
              <a:rPr lang="en-US" sz="900" dirty="0" err="1">
                <a:latin typeface="+mn-lt"/>
                <a:cs typeface="Times New Roman" panose="02020603050405020304" pitchFamily="18" charset="0"/>
              </a:rPr>
              <a:t>TeamID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)</a:t>
            </a:r>
          </a:p>
          <a:p>
            <a:r>
              <a:rPr lang="en-US" sz="900" dirty="0">
                <a:latin typeface="+mn-lt"/>
                <a:cs typeface="Times New Roman" panose="02020603050405020304" pitchFamily="18" charset="0"/>
              </a:rPr>
              <a:t>Winner → TEAM(</a:t>
            </a:r>
            <a:r>
              <a:rPr lang="en-US" sz="900" dirty="0" err="1">
                <a:latin typeface="+mn-lt"/>
                <a:cs typeface="Times New Roman" panose="02020603050405020304" pitchFamily="18" charset="0"/>
              </a:rPr>
              <a:t>TeamID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)</a:t>
            </a:r>
          </a:p>
          <a:p>
            <a:endParaRPr lang="en-US" sz="9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944376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D386F-862B-2E7F-DE51-989124499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Implementation Details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9EE3B0-A27E-F5A1-133E-4A68E68364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Database Layer:</a:t>
            </a:r>
          </a:p>
          <a:p>
            <a:r>
              <a:rPr lang="en-US" sz="1200" dirty="0"/>
              <a:t>The application uses </a:t>
            </a:r>
            <a:r>
              <a:rPr lang="en-US" sz="1200" b="1" dirty="0"/>
              <a:t>SQLite</a:t>
            </a:r>
            <a:r>
              <a:rPr lang="en-US" sz="1200" dirty="0"/>
              <a:t> as the database engine, accessed through Python’s built-in sqlite3 module. The main database file is </a:t>
            </a:r>
            <a:r>
              <a:rPr lang="en-US" sz="1200" dirty="0" err="1"/>
              <a:t>NBA_stats.sqlite</a:t>
            </a:r>
            <a:r>
              <a:rPr lang="en-US" sz="1200" dirty="0"/>
              <a:t>, which was populated from multiple CSV datasets of NBA players, teams, games, statistics, awards, drafts, and All-Star data</a:t>
            </a:r>
          </a:p>
          <a:p>
            <a:r>
              <a:rPr lang="en-US" sz="1200" dirty="0"/>
              <a:t>Each SQL logic method prepares a parameterized SQL query</a:t>
            </a:r>
          </a:p>
          <a:p>
            <a:r>
              <a:rPr lang="en-US" sz="1200" dirty="0"/>
              <a:t>Features used:</a:t>
            </a:r>
          </a:p>
          <a:p>
            <a:pPr lvl="1"/>
            <a:r>
              <a:rPr lang="en-US" sz="1200" dirty="0"/>
              <a:t>Joins</a:t>
            </a:r>
          </a:p>
          <a:p>
            <a:pPr lvl="1"/>
            <a:r>
              <a:rPr lang="en-US" sz="1200" dirty="0"/>
              <a:t>Aggregations(SUM(), COUNT(), GROUP BY)</a:t>
            </a:r>
          </a:p>
          <a:p>
            <a:pPr lvl="1"/>
            <a:r>
              <a:rPr lang="en-US" sz="1200" dirty="0"/>
              <a:t>Filtering data using WHERE</a:t>
            </a:r>
          </a:p>
          <a:p>
            <a:r>
              <a:rPr lang="en-US" sz="1200" dirty="0"/>
              <a:t>Queries return either a single row or a list</a:t>
            </a:r>
          </a:p>
          <a:p>
            <a:r>
              <a:rPr lang="en-US" sz="1200" dirty="0"/>
              <a:t>Connection handling</a:t>
            </a:r>
          </a:p>
          <a:p>
            <a:pPr lvl="1"/>
            <a:r>
              <a:rPr lang="en-US" sz="1200" dirty="0"/>
              <a:t>The </a:t>
            </a:r>
            <a:r>
              <a:rPr lang="en-US" sz="1200" dirty="0" err="1"/>
              <a:t>NBADatabase</a:t>
            </a:r>
            <a:r>
              <a:rPr lang="en-US" sz="1200" dirty="0"/>
              <a:t> class opens a single connection to the SQLite database when the app starts and reuses a shared cursor for queries</a:t>
            </a:r>
          </a:p>
          <a:p>
            <a:pPr lvl="1"/>
            <a:r>
              <a:rPr lang="en-US" sz="1200" dirty="0"/>
              <a:t>A close() method is used to smoothly close the connection</a:t>
            </a:r>
          </a:p>
        </p:txBody>
      </p:sp>
    </p:spTree>
    <p:extLst>
      <p:ext uri="{BB962C8B-B14F-4D97-AF65-F5344CB8AC3E}">
        <p14:creationId xmlns:p14="http://schemas.microsoft.com/office/powerpoint/2010/main" val="23606544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AFE64-44A4-2EA3-F487-79C5777E0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7D197-072B-00A2-5E0D-31D203CB4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Implementation Details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F4CD4C-7330-DE27-4161-B3EA54A1C9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UI Layer:</a:t>
            </a:r>
          </a:p>
          <a:p>
            <a:r>
              <a:rPr lang="en-US" sz="1200" dirty="0"/>
              <a:t>The UI is a </a:t>
            </a:r>
            <a:r>
              <a:rPr lang="en-US" sz="1200" b="1" dirty="0"/>
              <a:t>text-based command-line interface (CLI)</a:t>
            </a:r>
            <a:r>
              <a:rPr lang="en-US" sz="1200" dirty="0"/>
              <a:t> implemented in Python.</a:t>
            </a:r>
          </a:p>
          <a:p>
            <a:r>
              <a:rPr lang="en-US" sz="1200" dirty="0"/>
              <a:t>UI is responsible for</a:t>
            </a:r>
          </a:p>
          <a:p>
            <a:pPr lvl="1"/>
            <a:r>
              <a:rPr lang="en-US" sz="800" dirty="0"/>
              <a:t>Displaying main menu and headers</a:t>
            </a:r>
          </a:p>
          <a:p>
            <a:pPr lvl="1"/>
            <a:r>
              <a:rPr lang="en-US" sz="800" dirty="0"/>
              <a:t>Reading user input</a:t>
            </a:r>
          </a:p>
          <a:p>
            <a:pPr lvl="1"/>
            <a:r>
              <a:rPr lang="en-US" sz="800" dirty="0"/>
              <a:t>Calling appropriate methods</a:t>
            </a:r>
          </a:p>
          <a:p>
            <a:pPr lvl="1"/>
            <a:r>
              <a:rPr lang="en-US" sz="800" dirty="0"/>
              <a:t>Formatting and outputting</a:t>
            </a:r>
          </a:p>
          <a:p>
            <a:r>
              <a:rPr lang="en-US" sz="1200" dirty="0"/>
              <a:t> Menu is displayed to show user what options they have</a:t>
            </a:r>
          </a:p>
          <a:p>
            <a:r>
              <a:rPr lang="en-US" sz="1200" dirty="0"/>
              <a:t> Input is collected using input() function </a:t>
            </a:r>
          </a:p>
          <a:p>
            <a:r>
              <a:rPr lang="en-US" sz="1200" dirty="0"/>
              <a:t> Print is used to output the results in a neat format</a:t>
            </a:r>
          </a:p>
          <a:p>
            <a:r>
              <a:rPr lang="en-US" sz="1200" dirty="0"/>
              <a:t> Success and failure messages are displayed for updates to the database</a:t>
            </a:r>
          </a:p>
          <a:p>
            <a:r>
              <a:rPr lang="en-US" sz="1200" dirty="0"/>
              <a:t> Errors are displayed when invalid selection is made</a:t>
            </a: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9298459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1247531" y="1878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Use Case</a:t>
            </a: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1376118" y="1152475"/>
            <a:ext cx="7456182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b="1"/>
              <a:t>Read Action: </a:t>
            </a:r>
            <a:r>
              <a:rPr lang="it"/>
              <a:t> 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err="1"/>
              <a:t>As</a:t>
            </a:r>
            <a:r>
              <a:rPr lang="it"/>
              <a:t> a user, I </a:t>
            </a:r>
            <a:r>
              <a:rPr lang="it" err="1"/>
              <a:t>want</a:t>
            </a:r>
            <a:r>
              <a:rPr lang="it"/>
              <a:t> to </a:t>
            </a:r>
            <a:r>
              <a:rPr lang="it" err="1"/>
              <a:t>view</a:t>
            </a:r>
            <a:r>
              <a:rPr lang="it"/>
              <a:t> information </a:t>
            </a:r>
            <a:r>
              <a:rPr lang="it" err="1"/>
              <a:t>based</a:t>
            </a:r>
            <a:r>
              <a:rPr lang="it"/>
              <a:t> on a </a:t>
            </a:r>
            <a:r>
              <a:rPr lang="it" err="1"/>
              <a:t>specific</a:t>
            </a:r>
            <a:r>
              <a:rPr lang="it"/>
              <a:t> action (like a </a:t>
            </a:r>
            <a:r>
              <a:rPr lang="it" err="1"/>
              <a:t>specific</a:t>
            </a:r>
            <a:r>
              <a:rPr lang="it"/>
              <a:t> player </a:t>
            </a:r>
            <a:r>
              <a:rPr lang="it" err="1"/>
              <a:t>stat</a:t>
            </a:r>
            <a:r>
              <a:rPr lang="it"/>
              <a:t>, the list of last </a:t>
            </a:r>
            <a:r>
              <a:rPr lang="it" err="1"/>
              <a:t>year</a:t>
            </a:r>
            <a:r>
              <a:rPr lang="it"/>
              <a:t> awards, ...). </a:t>
            </a:r>
            <a:endParaRPr/>
          </a:p>
          <a:p>
            <a:pPr marL="6858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it"/>
              <a:t>Given the input action, the Application accesses the DB </a:t>
            </a:r>
            <a:r>
              <a:rPr lang="it" err="1"/>
              <a:t>tables</a:t>
            </a:r>
            <a:r>
              <a:rPr lang="it"/>
              <a:t> and </a:t>
            </a:r>
            <a:r>
              <a:rPr lang="it" err="1"/>
              <a:t>returns</a:t>
            </a:r>
            <a:r>
              <a:rPr lang="it"/>
              <a:t> the information.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9C6C2D18-C1E5-80A2-FA89-C76650E90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>
            <a:extLst>
              <a:ext uri="{FF2B5EF4-FFF2-40B4-BE49-F238E27FC236}">
                <a16:creationId xmlns:a16="http://schemas.microsoft.com/office/drawing/2014/main" id="{CF418CE0-709A-AF03-9DDC-C8CFB914A1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47794" y="2113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UML Diagram</a:t>
            </a:r>
            <a:endParaRPr/>
          </a:p>
        </p:txBody>
      </p:sp>
      <p:pic>
        <p:nvPicPr>
          <p:cNvPr id="3" name="Picture 2" descr="PlantUML Diagram">
            <a:extLst>
              <a:ext uri="{FF2B5EF4-FFF2-40B4-BE49-F238E27FC236}">
                <a16:creationId xmlns:a16="http://schemas.microsoft.com/office/drawing/2014/main" id="{2CD30309-05EF-5313-F60E-FF986501AE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5616" y="655485"/>
            <a:ext cx="5415349" cy="3986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6423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912150" y="423594"/>
            <a:ext cx="2348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Use Case</a:t>
            </a:r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1490418" y="1152475"/>
            <a:ext cx="7341882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b="1"/>
              <a:t>Write Action:</a:t>
            </a:r>
            <a:r>
              <a:rPr lang="it"/>
              <a:t> 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b="1"/>
              <a:t>Update Player Roster </a:t>
            </a:r>
            <a:r>
              <a:rPr lang="it" b="1" err="1"/>
              <a:t>Mid</a:t>
            </a:r>
            <a:r>
              <a:rPr lang="it" b="1"/>
              <a:t>-Season:</a:t>
            </a:r>
            <a:r>
              <a:rPr lang="it"/>
              <a:t> </a:t>
            </a:r>
            <a:r>
              <a:rPr lang="it" err="1"/>
              <a:t>As</a:t>
            </a:r>
            <a:r>
              <a:rPr lang="it"/>
              <a:t> </a:t>
            </a:r>
            <a:r>
              <a:rPr lang="it" err="1"/>
              <a:t>administrator</a:t>
            </a:r>
            <a:r>
              <a:rPr lang="it"/>
              <a:t>, I </a:t>
            </a:r>
            <a:r>
              <a:rPr lang="it" err="1"/>
              <a:t>want</a:t>
            </a:r>
            <a:r>
              <a:rPr lang="it"/>
              <a:t> to update a </a:t>
            </a:r>
            <a:r>
              <a:rPr lang="it" err="1"/>
              <a:t>player's</a:t>
            </a:r>
            <a:r>
              <a:rPr lang="it"/>
              <a:t> team in the database so I can </a:t>
            </a:r>
            <a:r>
              <a:rPr lang="it" err="1"/>
              <a:t>accurately</a:t>
            </a:r>
            <a:r>
              <a:rPr lang="it"/>
              <a:t> track </a:t>
            </a:r>
            <a:r>
              <a:rPr lang="it" err="1"/>
              <a:t>their</a:t>
            </a:r>
            <a:r>
              <a:rPr lang="it"/>
              <a:t> tenure and </a:t>
            </a:r>
            <a:r>
              <a:rPr lang="it" err="1"/>
              <a:t>stats</a:t>
            </a:r>
            <a:r>
              <a:rPr lang="it"/>
              <a:t> following a trade. </a:t>
            </a:r>
            <a:endParaRPr/>
          </a:p>
          <a:p>
            <a:pPr marL="6858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it"/>
              <a:t>Given the Admin </a:t>
            </a:r>
            <a:r>
              <a:rPr lang="it" err="1"/>
              <a:t>initiates</a:t>
            </a:r>
            <a:r>
              <a:rPr lang="it"/>
              <a:t> a roster </a:t>
            </a:r>
            <a:r>
              <a:rPr lang="it" err="1"/>
              <a:t>change</a:t>
            </a:r>
            <a:r>
              <a:rPr lang="it"/>
              <a:t> (an INSERT </a:t>
            </a:r>
            <a:r>
              <a:rPr lang="it" err="1"/>
              <a:t>into</a:t>
            </a:r>
            <a:r>
              <a:rPr lang="it"/>
              <a:t> DB), </a:t>
            </a:r>
            <a:r>
              <a:rPr lang="it" err="1"/>
              <a:t>if</a:t>
            </a:r>
            <a:r>
              <a:rPr lang="it"/>
              <a:t> the admin </a:t>
            </a:r>
            <a:r>
              <a:rPr lang="it" err="1"/>
              <a:t>is</a:t>
            </a:r>
            <a:r>
              <a:rPr lang="it"/>
              <a:t> </a:t>
            </a:r>
            <a:r>
              <a:rPr lang="it" err="1"/>
              <a:t>not</a:t>
            </a:r>
            <a:r>
              <a:rPr lang="it"/>
              <a:t> </a:t>
            </a:r>
            <a:r>
              <a:rPr lang="it" err="1"/>
              <a:t>logged</a:t>
            </a:r>
            <a:r>
              <a:rPr lang="it"/>
              <a:t> in, the System prompts for a password to </a:t>
            </a:r>
            <a:r>
              <a:rPr lang="it" err="1"/>
              <a:t>grant</a:t>
            </a:r>
            <a:r>
              <a:rPr lang="it"/>
              <a:t> </a:t>
            </a:r>
            <a:r>
              <a:rPr lang="it" err="1"/>
              <a:t>write</a:t>
            </a:r>
            <a:r>
              <a:rPr lang="it"/>
              <a:t> </a:t>
            </a:r>
            <a:r>
              <a:rPr lang="it" err="1"/>
              <a:t>privileges</a:t>
            </a:r>
            <a:r>
              <a:rPr lang="it"/>
              <a:t>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b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2746131" y="2113"/>
            <a:ext cx="2969907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UML Diagram</a:t>
            </a:r>
            <a:endParaRPr/>
          </a:p>
        </p:txBody>
      </p:sp>
      <p:pic>
        <p:nvPicPr>
          <p:cNvPr id="3" name="Picture 2" descr="PlantUML Diagram">
            <a:extLst>
              <a:ext uri="{FF2B5EF4-FFF2-40B4-BE49-F238E27FC236}">
                <a16:creationId xmlns:a16="http://schemas.microsoft.com/office/drawing/2014/main" id="{41AB7804-457C-08EB-DC40-91DC687B0A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4195" y="774571"/>
            <a:ext cx="2629374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title"/>
          </p:nvPr>
        </p:nvSpPr>
        <p:spPr>
          <a:xfrm>
            <a:off x="3590681" y="252144"/>
            <a:ext cx="1826907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Entities</a:t>
            </a:r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body" idx="1"/>
          </p:nvPr>
        </p:nvSpPr>
        <p:spPr>
          <a:xfrm>
            <a:off x="311700" y="1016744"/>
            <a:ext cx="8520600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6858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-US" sz="2000" b="1">
                <a:solidFill>
                  <a:schemeClr val="dk1"/>
                </a:solidFill>
              </a:rPr>
              <a:t>Player</a:t>
            </a:r>
            <a:r>
              <a:rPr lang="en-US" sz="2000">
                <a:solidFill>
                  <a:schemeClr val="dk1"/>
                </a:solidFill>
              </a:rPr>
              <a:t>: This table would contain basic information about players, such as their height, weight, college, and birth date. Data for this table would come from files like </a:t>
            </a:r>
            <a:r>
              <a:rPr lang="en-US" sz="2000" i="1" u="sng">
                <a:solidFill>
                  <a:schemeClr val="dk1"/>
                </a:solidFill>
              </a:rPr>
              <a:t>Player Career Info.csv</a:t>
            </a:r>
            <a:r>
              <a:rPr lang="en-US" sz="2000">
                <a:solidFill>
                  <a:schemeClr val="dk1"/>
                </a:solidFill>
              </a:rPr>
              <a:t>. </a:t>
            </a:r>
          </a:p>
          <a:p>
            <a:pPr marL="6858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-US" sz="2000" b="1">
                <a:solidFill>
                  <a:schemeClr val="dk1"/>
                </a:solidFill>
              </a:rPr>
              <a:t>Team</a:t>
            </a:r>
            <a:r>
              <a:rPr lang="en-US" sz="2000">
                <a:solidFill>
                  <a:schemeClr val="dk1"/>
                </a:solidFill>
              </a:rPr>
              <a:t>: This table would hold information about each team, including full names, abbreviations, city, and home arena. Information would be derived from files like Team Abbrev.csv or Team Summaries.csv. </a:t>
            </a:r>
          </a:p>
          <a:p>
            <a:pPr marL="6858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-US" sz="2000" b="1">
                <a:solidFill>
                  <a:schemeClr val="dk1"/>
                </a:solidFill>
              </a:rPr>
              <a:t>Season</a:t>
            </a:r>
            <a:r>
              <a:rPr lang="en-US" sz="2000">
                <a:solidFill>
                  <a:schemeClr val="dk1"/>
                </a:solidFill>
              </a:rPr>
              <a:t>: This table would list all league seasons with their start and end years. It would serve as a support table to link player and team stats to a specific season with </a:t>
            </a:r>
            <a:r>
              <a:rPr lang="en-US" sz="2000" i="1" u="sng">
                <a:solidFill>
                  <a:schemeClr val="dk1"/>
                </a:solidFill>
              </a:rPr>
              <a:t>Player Season Info.csv</a:t>
            </a:r>
            <a:r>
              <a:rPr lang="en-US" sz="2000">
                <a:solidFill>
                  <a:schemeClr val="dk1"/>
                </a:solidFill>
              </a:rPr>
              <a:t>. </a:t>
            </a:r>
          </a:p>
          <a:p>
            <a:pPr marL="6858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-US" sz="2000" b="1">
                <a:solidFill>
                  <a:schemeClr val="dk1"/>
                </a:solidFill>
              </a:rPr>
              <a:t>Game</a:t>
            </a:r>
            <a:r>
              <a:rPr lang="en-US" sz="2000">
                <a:solidFill>
                  <a:schemeClr val="dk1"/>
                </a:solidFill>
              </a:rPr>
              <a:t>: This table would include details about each individual game, such as the date, final scores, and the teams that played. Data could be obtained from </a:t>
            </a:r>
            <a:r>
              <a:rPr lang="en-US" sz="2000" i="1" u="sng">
                <a:solidFill>
                  <a:schemeClr val="dk1"/>
                </a:solidFill>
              </a:rPr>
              <a:t>Game.csv</a:t>
            </a:r>
            <a:r>
              <a:rPr lang="en-US" sz="2000">
                <a:solidFill>
                  <a:schemeClr val="dk1"/>
                </a:solidFill>
              </a:rPr>
              <a:t> or game summary files. 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lang="en-US" sz="2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>
            <a:spLocks noGrp="1"/>
          </p:cNvSpPr>
          <p:nvPr>
            <p:ph type="title"/>
          </p:nvPr>
        </p:nvSpPr>
        <p:spPr>
          <a:xfrm>
            <a:off x="3590681" y="2112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Entities</a:t>
            </a:r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1"/>
          </p:nvPr>
        </p:nvSpPr>
        <p:spPr>
          <a:xfrm>
            <a:off x="626025" y="752425"/>
            <a:ext cx="8520600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6858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it" sz="2000" b="1">
                <a:solidFill>
                  <a:schemeClr val="dk1"/>
                </a:solidFill>
              </a:rPr>
              <a:t>Draft Pick</a:t>
            </a:r>
            <a:r>
              <a:rPr lang="it" sz="2000">
                <a:solidFill>
                  <a:schemeClr val="dk1"/>
                </a:solidFill>
              </a:rPr>
              <a:t>: </a:t>
            </a:r>
            <a:r>
              <a:rPr lang="it" sz="2000" err="1">
                <a:solidFill>
                  <a:schemeClr val="dk1"/>
                </a:solidFill>
              </a:rPr>
              <a:t>This</a:t>
            </a:r>
            <a:r>
              <a:rPr lang="it" sz="2000">
                <a:solidFill>
                  <a:schemeClr val="dk1"/>
                </a:solidFill>
              </a:rPr>
              <a:t> </a:t>
            </a:r>
            <a:r>
              <a:rPr lang="it" sz="2000" err="1">
                <a:solidFill>
                  <a:schemeClr val="dk1"/>
                </a:solidFill>
              </a:rPr>
              <a:t>table</a:t>
            </a:r>
            <a:r>
              <a:rPr lang="it" sz="2000">
                <a:solidFill>
                  <a:schemeClr val="dk1"/>
                </a:solidFill>
              </a:rPr>
              <a:t> </a:t>
            </a:r>
            <a:r>
              <a:rPr lang="it" sz="2000" err="1">
                <a:solidFill>
                  <a:schemeClr val="dk1"/>
                </a:solidFill>
              </a:rPr>
              <a:t>would</a:t>
            </a:r>
            <a:r>
              <a:rPr lang="it" sz="2000">
                <a:solidFill>
                  <a:schemeClr val="dk1"/>
                </a:solidFill>
              </a:rPr>
              <a:t> record a </a:t>
            </a:r>
            <a:r>
              <a:rPr lang="it" sz="2000" err="1">
                <a:solidFill>
                  <a:schemeClr val="dk1"/>
                </a:solidFill>
              </a:rPr>
              <a:t>player's</a:t>
            </a:r>
            <a:r>
              <a:rPr lang="it" sz="2000">
                <a:solidFill>
                  <a:schemeClr val="dk1"/>
                </a:solidFill>
              </a:rPr>
              <a:t> draft history, </a:t>
            </a:r>
            <a:r>
              <a:rPr lang="it" sz="2000" err="1">
                <a:solidFill>
                  <a:schemeClr val="dk1"/>
                </a:solidFill>
              </a:rPr>
              <a:t>including</a:t>
            </a:r>
            <a:r>
              <a:rPr lang="it" sz="2000">
                <a:solidFill>
                  <a:schemeClr val="dk1"/>
                </a:solidFill>
              </a:rPr>
              <a:t> the draft </a:t>
            </a:r>
            <a:r>
              <a:rPr lang="it" sz="2000" err="1">
                <a:solidFill>
                  <a:schemeClr val="dk1"/>
                </a:solidFill>
              </a:rPr>
              <a:t>year</a:t>
            </a:r>
            <a:r>
              <a:rPr lang="it" sz="2000">
                <a:solidFill>
                  <a:schemeClr val="dk1"/>
                </a:solidFill>
              </a:rPr>
              <a:t> and </a:t>
            </a:r>
            <a:r>
              <a:rPr lang="it" sz="2000" err="1">
                <a:solidFill>
                  <a:schemeClr val="dk1"/>
                </a:solidFill>
              </a:rPr>
              <a:t>their</a:t>
            </a:r>
            <a:r>
              <a:rPr lang="it" sz="2000">
                <a:solidFill>
                  <a:schemeClr val="dk1"/>
                </a:solidFill>
              </a:rPr>
              <a:t> </a:t>
            </a:r>
            <a:r>
              <a:rPr lang="it" sz="2000" err="1">
                <a:solidFill>
                  <a:schemeClr val="dk1"/>
                </a:solidFill>
              </a:rPr>
              <a:t>selection</a:t>
            </a:r>
            <a:r>
              <a:rPr lang="it" sz="2000">
                <a:solidFill>
                  <a:schemeClr val="dk1"/>
                </a:solidFill>
              </a:rPr>
              <a:t> </a:t>
            </a:r>
            <a:r>
              <a:rPr lang="it" sz="2000" err="1">
                <a:solidFill>
                  <a:schemeClr val="dk1"/>
                </a:solidFill>
              </a:rPr>
              <a:t>number</a:t>
            </a:r>
            <a:r>
              <a:rPr lang="it" sz="2000">
                <a:solidFill>
                  <a:schemeClr val="dk1"/>
                </a:solidFill>
              </a:rPr>
              <a:t>. The data </a:t>
            </a:r>
            <a:r>
              <a:rPr lang="it" sz="2000" err="1">
                <a:solidFill>
                  <a:schemeClr val="dk1"/>
                </a:solidFill>
              </a:rPr>
              <a:t>would</a:t>
            </a:r>
            <a:r>
              <a:rPr lang="it" sz="2000">
                <a:solidFill>
                  <a:schemeClr val="dk1"/>
                </a:solidFill>
              </a:rPr>
              <a:t> come from the </a:t>
            </a:r>
            <a:r>
              <a:rPr lang="it" sz="2000" i="1" u="sng">
                <a:solidFill>
                  <a:schemeClr val="dk1"/>
                </a:solidFill>
              </a:rPr>
              <a:t>Draft Pick History.csv</a:t>
            </a:r>
            <a:r>
              <a:rPr lang="it" sz="2000">
                <a:solidFill>
                  <a:schemeClr val="dk1"/>
                </a:solidFill>
              </a:rPr>
              <a:t> file. </a:t>
            </a:r>
            <a:endParaRPr lang="en-US" sz="2000">
              <a:solidFill>
                <a:schemeClr val="dk1"/>
              </a:solidFill>
            </a:endParaRPr>
          </a:p>
          <a:p>
            <a:pPr marL="6858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it" sz="2000" b="1" err="1">
                <a:solidFill>
                  <a:schemeClr val="dk1"/>
                </a:solidFill>
              </a:rPr>
              <a:t>All</a:t>
            </a:r>
            <a:r>
              <a:rPr lang="it" sz="2000" b="1">
                <a:solidFill>
                  <a:schemeClr val="dk1"/>
                </a:solidFill>
              </a:rPr>
              <a:t>-Star </a:t>
            </a:r>
            <a:r>
              <a:rPr lang="it" sz="2000" b="1" err="1">
                <a:solidFill>
                  <a:schemeClr val="dk1"/>
                </a:solidFill>
              </a:rPr>
              <a:t>Selection</a:t>
            </a:r>
            <a:r>
              <a:rPr lang="it" sz="2000">
                <a:solidFill>
                  <a:schemeClr val="dk1"/>
                </a:solidFill>
              </a:rPr>
              <a:t>: </a:t>
            </a:r>
            <a:r>
              <a:rPr lang="it" sz="2000" err="1">
                <a:solidFill>
                  <a:schemeClr val="dk1"/>
                </a:solidFill>
              </a:rPr>
              <a:t>This</a:t>
            </a:r>
            <a:r>
              <a:rPr lang="it" sz="2000">
                <a:solidFill>
                  <a:schemeClr val="dk1"/>
                </a:solidFill>
              </a:rPr>
              <a:t> </a:t>
            </a:r>
            <a:r>
              <a:rPr lang="it" sz="2000" err="1">
                <a:solidFill>
                  <a:schemeClr val="dk1"/>
                </a:solidFill>
              </a:rPr>
              <a:t>table</a:t>
            </a:r>
            <a:r>
              <a:rPr lang="it" sz="2000">
                <a:solidFill>
                  <a:schemeClr val="dk1"/>
                </a:solidFill>
              </a:rPr>
              <a:t> </a:t>
            </a:r>
            <a:r>
              <a:rPr lang="it" sz="2000" err="1">
                <a:solidFill>
                  <a:schemeClr val="dk1"/>
                </a:solidFill>
              </a:rPr>
              <a:t>would</a:t>
            </a:r>
            <a:r>
              <a:rPr lang="it" sz="2000">
                <a:solidFill>
                  <a:schemeClr val="dk1"/>
                </a:solidFill>
              </a:rPr>
              <a:t> record </a:t>
            </a:r>
            <a:r>
              <a:rPr lang="it" sz="2000" err="1">
                <a:solidFill>
                  <a:schemeClr val="dk1"/>
                </a:solidFill>
              </a:rPr>
              <a:t>every</a:t>
            </a:r>
            <a:r>
              <a:rPr lang="it" sz="2000">
                <a:solidFill>
                  <a:schemeClr val="dk1"/>
                </a:solidFill>
              </a:rPr>
              <a:t> </a:t>
            </a:r>
            <a:r>
              <a:rPr lang="it" sz="2000" err="1">
                <a:solidFill>
                  <a:schemeClr val="dk1"/>
                </a:solidFill>
              </a:rPr>
              <a:t>instance</a:t>
            </a:r>
            <a:r>
              <a:rPr lang="it" sz="2000">
                <a:solidFill>
                  <a:schemeClr val="dk1"/>
                </a:solidFill>
              </a:rPr>
              <a:t> a player </a:t>
            </a:r>
            <a:r>
              <a:rPr lang="it" sz="2000" err="1">
                <a:solidFill>
                  <a:schemeClr val="dk1"/>
                </a:solidFill>
              </a:rPr>
              <a:t>was</a:t>
            </a:r>
            <a:r>
              <a:rPr lang="it" sz="2000">
                <a:solidFill>
                  <a:schemeClr val="dk1"/>
                </a:solidFill>
              </a:rPr>
              <a:t> </a:t>
            </a:r>
            <a:r>
              <a:rPr lang="it" sz="2000" err="1">
                <a:solidFill>
                  <a:schemeClr val="dk1"/>
                </a:solidFill>
              </a:rPr>
              <a:t>selected</a:t>
            </a:r>
            <a:r>
              <a:rPr lang="it" sz="2000">
                <a:solidFill>
                  <a:schemeClr val="dk1"/>
                </a:solidFill>
              </a:rPr>
              <a:t> for the </a:t>
            </a:r>
            <a:r>
              <a:rPr lang="it" sz="2000" err="1">
                <a:solidFill>
                  <a:schemeClr val="dk1"/>
                </a:solidFill>
              </a:rPr>
              <a:t>All</a:t>
            </a:r>
            <a:r>
              <a:rPr lang="it" sz="2000">
                <a:solidFill>
                  <a:schemeClr val="dk1"/>
                </a:solidFill>
              </a:rPr>
              <a:t>-Star Game, </a:t>
            </a:r>
            <a:r>
              <a:rPr lang="it" sz="2000" err="1">
                <a:solidFill>
                  <a:schemeClr val="dk1"/>
                </a:solidFill>
              </a:rPr>
              <a:t>specifying</a:t>
            </a:r>
            <a:r>
              <a:rPr lang="it" sz="2000">
                <a:solidFill>
                  <a:schemeClr val="dk1"/>
                </a:solidFill>
              </a:rPr>
              <a:t> the </a:t>
            </a:r>
            <a:r>
              <a:rPr lang="it" sz="2000" err="1">
                <a:solidFill>
                  <a:schemeClr val="dk1"/>
                </a:solidFill>
              </a:rPr>
              <a:t>year</a:t>
            </a:r>
            <a:r>
              <a:rPr lang="it" sz="2000">
                <a:solidFill>
                  <a:schemeClr val="dk1"/>
                </a:solidFill>
              </a:rPr>
              <a:t>. Information </a:t>
            </a:r>
            <a:r>
              <a:rPr lang="it" sz="2000" err="1">
                <a:solidFill>
                  <a:schemeClr val="dk1"/>
                </a:solidFill>
              </a:rPr>
              <a:t>would</a:t>
            </a:r>
            <a:r>
              <a:rPr lang="it" sz="2000">
                <a:solidFill>
                  <a:schemeClr val="dk1"/>
                </a:solidFill>
              </a:rPr>
              <a:t> be </a:t>
            </a:r>
            <a:r>
              <a:rPr lang="it" sz="2000" err="1">
                <a:solidFill>
                  <a:schemeClr val="dk1"/>
                </a:solidFill>
              </a:rPr>
              <a:t>derived</a:t>
            </a:r>
            <a:r>
              <a:rPr lang="it" sz="2000">
                <a:solidFill>
                  <a:schemeClr val="dk1"/>
                </a:solidFill>
              </a:rPr>
              <a:t> from the </a:t>
            </a:r>
            <a:r>
              <a:rPr lang="it" sz="2000" i="1" u="sng" err="1">
                <a:solidFill>
                  <a:schemeClr val="dk1"/>
                </a:solidFill>
              </a:rPr>
              <a:t>All</a:t>
            </a:r>
            <a:r>
              <a:rPr lang="it" sz="2000" i="1" u="sng">
                <a:solidFill>
                  <a:schemeClr val="dk1"/>
                </a:solidFill>
              </a:rPr>
              <a:t>-Star Selections.csv</a:t>
            </a:r>
            <a:r>
              <a:rPr lang="it" sz="2000">
                <a:solidFill>
                  <a:schemeClr val="dk1"/>
                </a:solidFill>
              </a:rPr>
              <a:t> file. </a:t>
            </a:r>
            <a:endParaRPr sz="2000">
              <a:solidFill>
                <a:schemeClr val="dk1"/>
              </a:solidFill>
            </a:endParaRPr>
          </a:p>
          <a:p>
            <a:pPr marL="6858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it" sz="2000" b="1">
                <a:solidFill>
                  <a:schemeClr val="dk1"/>
                </a:solidFill>
              </a:rPr>
              <a:t>Award</a:t>
            </a:r>
            <a:r>
              <a:rPr lang="it" sz="2000">
                <a:solidFill>
                  <a:schemeClr val="dk1"/>
                </a:solidFill>
              </a:rPr>
              <a:t>: </a:t>
            </a:r>
            <a:r>
              <a:rPr lang="it" sz="2000" err="1">
                <a:solidFill>
                  <a:schemeClr val="dk1"/>
                </a:solidFill>
              </a:rPr>
              <a:t>This</a:t>
            </a:r>
            <a:r>
              <a:rPr lang="it" sz="2000">
                <a:solidFill>
                  <a:schemeClr val="dk1"/>
                </a:solidFill>
              </a:rPr>
              <a:t> </a:t>
            </a:r>
            <a:r>
              <a:rPr lang="it" sz="2000" err="1">
                <a:solidFill>
                  <a:schemeClr val="dk1"/>
                </a:solidFill>
              </a:rPr>
              <a:t>table</a:t>
            </a:r>
            <a:r>
              <a:rPr lang="it" sz="2000">
                <a:solidFill>
                  <a:schemeClr val="dk1"/>
                </a:solidFill>
              </a:rPr>
              <a:t> </a:t>
            </a:r>
            <a:r>
              <a:rPr lang="it" sz="2000" err="1">
                <a:solidFill>
                  <a:schemeClr val="dk1"/>
                </a:solidFill>
              </a:rPr>
              <a:t>would</a:t>
            </a:r>
            <a:r>
              <a:rPr lang="it" sz="2000">
                <a:solidFill>
                  <a:schemeClr val="dk1"/>
                </a:solidFill>
              </a:rPr>
              <a:t> list the </a:t>
            </a:r>
            <a:r>
              <a:rPr lang="it" sz="2000" err="1">
                <a:solidFill>
                  <a:schemeClr val="dk1"/>
                </a:solidFill>
              </a:rPr>
              <a:t>different</a:t>
            </a:r>
            <a:r>
              <a:rPr lang="it" sz="2000">
                <a:solidFill>
                  <a:schemeClr val="dk1"/>
                </a:solidFill>
              </a:rPr>
              <a:t> </a:t>
            </a:r>
            <a:r>
              <a:rPr lang="it" sz="2000" err="1">
                <a:solidFill>
                  <a:schemeClr val="dk1"/>
                </a:solidFill>
              </a:rPr>
              <a:t>league</a:t>
            </a:r>
            <a:r>
              <a:rPr lang="it" sz="2000">
                <a:solidFill>
                  <a:schemeClr val="dk1"/>
                </a:solidFill>
              </a:rPr>
              <a:t> awards (e.g., MVP, Rookie of the </a:t>
            </a:r>
            <a:r>
              <a:rPr lang="it" sz="2000" err="1">
                <a:solidFill>
                  <a:schemeClr val="dk1"/>
                </a:solidFill>
              </a:rPr>
              <a:t>Year</a:t>
            </a:r>
            <a:r>
              <a:rPr lang="it" sz="2000">
                <a:solidFill>
                  <a:schemeClr val="dk1"/>
                </a:solidFill>
              </a:rPr>
              <a:t>). Data </a:t>
            </a:r>
            <a:r>
              <a:rPr lang="it" sz="2000" err="1">
                <a:solidFill>
                  <a:schemeClr val="dk1"/>
                </a:solidFill>
              </a:rPr>
              <a:t>could</a:t>
            </a:r>
            <a:r>
              <a:rPr lang="it" sz="2000">
                <a:solidFill>
                  <a:schemeClr val="dk1"/>
                </a:solidFill>
              </a:rPr>
              <a:t> be </a:t>
            </a:r>
            <a:r>
              <a:rPr lang="it" sz="2000" err="1">
                <a:solidFill>
                  <a:schemeClr val="dk1"/>
                </a:solidFill>
              </a:rPr>
              <a:t>extracted</a:t>
            </a:r>
            <a:r>
              <a:rPr lang="it" sz="2000">
                <a:solidFill>
                  <a:schemeClr val="dk1"/>
                </a:solidFill>
              </a:rPr>
              <a:t> from the </a:t>
            </a:r>
            <a:r>
              <a:rPr lang="it" sz="2000" i="1" u="sng">
                <a:solidFill>
                  <a:schemeClr val="dk1"/>
                </a:solidFill>
              </a:rPr>
              <a:t>Player Award Shares.csv</a:t>
            </a:r>
            <a:r>
              <a:rPr lang="it" sz="2000">
                <a:solidFill>
                  <a:schemeClr val="dk1"/>
                </a:solidFill>
              </a:rPr>
              <a:t> file. </a:t>
            </a:r>
            <a:endParaRPr sz="2000">
              <a:solidFill>
                <a:schemeClr val="dk1"/>
              </a:solidFill>
            </a:endParaRPr>
          </a:p>
          <a:p>
            <a:pPr marL="6858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it" sz="2000" b="1">
                <a:solidFill>
                  <a:schemeClr val="dk1"/>
                </a:solidFill>
              </a:rPr>
              <a:t>Player </a:t>
            </a:r>
            <a:r>
              <a:rPr lang="it" sz="2000" b="1" err="1">
                <a:solidFill>
                  <a:schemeClr val="dk1"/>
                </a:solidFill>
              </a:rPr>
              <a:t>Stats</a:t>
            </a:r>
            <a:r>
              <a:rPr lang="it" sz="2000">
                <a:solidFill>
                  <a:schemeClr val="dk1"/>
                </a:solidFill>
              </a:rPr>
              <a:t>: </a:t>
            </a:r>
            <a:r>
              <a:rPr lang="it" sz="2000" err="1">
                <a:solidFill>
                  <a:schemeClr val="dk1"/>
                </a:solidFill>
              </a:rPr>
              <a:t>This</a:t>
            </a:r>
            <a:r>
              <a:rPr lang="it" sz="2000">
                <a:solidFill>
                  <a:schemeClr val="dk1"/>
                </a:solidFill>
              </a:rPr>
              <a:t> </a:t>
            </a:r>
            <a:r>
              <a:rPr lang="it" sz="2000" err="1">
                <a:solidFill>
                  <a:schemeClr val="dk1"/>
                </a:solidFill>
              </a:rPr>
              <a:t>is</a:t>
            </a:r>
            <a:r>
              <a:rPr lang="it" sz="2000">
                <a:solidFill>
                  <a:schemeClr val="dk1"/>
                </a:solidFill>
              </a:rPr>
              <a:t> an associative </a:t>
            </a:r>
            <a:r>
              <a:rPr lang="it" sz="2000" err="1">
                <a:solidFill>
                  <a:schemeClr val="dk1"/>
                </a:solidFill>
              </a:rPr>
              <a:t>table</a:t>
            </a:r>
            <a:r>
              <a:rPr lang="it" sz="2000">
                <a:solidFill>
                  <a:schemeClr val="dk1"/>
                </a:solidFill>
              </a:rPr>
              <a:t> </a:t>
            </a:r>
            <a:r>
              <a:rPr lang="it" sz="2000" err="1">
                <a:solidFill>
                  <a:schemeClr val="dk1"/>
                </a:solidFill>
              </a:rPr>
              <a:t>that</a:t>
            </a:r>
            <a:r>
              <a:rPr lang="it" sz="2000">
                <a:solidFill>
                  <a:schemeClr val="dk1"/>
                </a:solidFill>
              </a:rPr>
              <a:t> links Players to Seasons. </a:t>
            </a:r>
            <a:r>
              <a:rPr lang="it" sz="2000" err="1">
                <a:solidFill>
                  <a:schemeClr val="dk1"/>
                </a:solidFill>
              </a:rPr>
              <a:t>It</a:t>
            </a:r>
            <a:r>
              <a:rPr lang="it" sz="2000">
                <a:solidFill>
                  <a:schemeClr val="dk1"/>
                </a:solidFill>
              </a:rPr>
              <a:t> </a:t>
            </a:r>
            <a:r>
              <a:rPr lang="it" sz="2000" err="1">
                <a:solidFill>
                  <a:schemeClr val="dk1"/>
                </a:solidFill>
              </a:rPr>
              <a:t>would</a:t>
            </a:r>
            <a:r>
              <a:rPr lang="it" sz="2000">
                <a:solidFill>
                  <a:schemeClr val="dk1"/>
                </a:solidFill>
              </a:rPr>
              <a:t> </a:t>
            </a:r>
            <a:r>
              <a:rPr lang="it" sz="2000" err="1">
                <a:solidFill>
                  <a:schemeClr val="dk1"/>
                </a:solidFill>
              </a:rPr>
              <a:t>contain</a:t>
            </a:r>
            <a:r>
              <a:rPr lang="it" sz="2000">
                <a:solidFill>
                  <a:schemeClr val="dk1"/>
                </a:solidFill>
              </a:rPr>
              <a:t> a </a:t>
            </a:r>
            <a:r>
              <a:rPr lang="it" sz="2000" err="1">
                <a:solidFill>
                  <a:schemeClr val="dk1"/>
                </a:solidFill>
              </a:rPr>
              <a:t>player's</a:t>
            </a:r>
            <a:r>
              <a:rPr lang="it" sz="2000">
                <a:solidFill>
                  <a:schemeClr val="dk1"/>
                </a:solidFill>
              </a:rPr>
              <a:t> </a:t>
            </a:r>
            <a:r>
              <a:rPr lang="it" sz="2000" err="1">
                <a:solidFill>
                  <a:schemeClr val="dk1"/>
                </a:solidFill>
              </a:rPr>
              <a:t>detailed</a:t>
            </a:r>
            <a:r>
              <a:rPr lang="it" sz="2000">
                <a:solidFill>
                  <a:schemeClr val="dk1"/>
                </a:solidFill>
              </a:rPr>
              <a:t> </a:t>
            </a:r>
            <a:r>
              <a:rPr lang="it" sz="2000" err="1">
                <a:solidFill>
                  <a:schemeClr val="dk1"/>
                </a:solidFill>
              </a:rPr>
              <a:t>statistics</a:t>
            </a:r>
            <a:r>
              <a:rPr lang="it" sz="2000">
                <a:solidFill>
                  <a:schemeClr val="dk1"/>
                </a:solidFill>
              </a:rPr>
              <a:t> for a </a:t>
            </a:r>
            <a:r>
              <a:rPr lang="it" sz="2000" err="1">
                <a:solidFill>
                  <a:schemeClr val="dk1"/>
                </a:solidFill>
              </a:rPr>
              <a:t>given</a:t>
            </a:r>
            <a:r>
              <a:rPr lang="it" sz="2000">
                <a:solidFill>
                  <a:schemeClr val="dk1"/>
                </a:solidFill>
              </a:rPr>
              <a:t> season, </a:t>
            </a:r>
            <a:r>
              <a:rPr lang="it" sz="2000" err="1">
                <a:solidFill>
                  <a:schemeClr val="dk1"/>
                </a:solidFill>
              </a:rPr>
              <a:t>such</a:t>
            </a:r>
            <a:r>
              <a:rPr lang="it" sz="2000">
                <a:solidFill>
                  <a:schemeClr val="dk1"/>
                </a:solidFill>
              </a:rPr>
              <a:t> </a:t>
            </a:r>
            <a:r>
              <a:rPr lang="it" sz="2000" err="1">
                <a:solidFill>
                  <a:schemeClr val="dk1"/>
                </a:solidFill>
              </a:rPr>
              <a:t>as</a:t>
            </a:r>
            <a:r>
              <a:rPr lang="it" sz="2000">
                <a:solidFill>
                  <a:schemeClr val="dk1"/>
                </a:solidFill>
              </a:rPr>
              <a:t> points, rebounds, and assists. Information </a:t>
            </a:r>
            <a:r>
              <a:rPr lang="it" sz="2000" err="1">
                <a:solidFill>
                  <a:schemeClr val="dk1"/>
                </a:solidFill>
              </a:rPr>
              <a:t>would</a:t>
            </a:r>
            <a:r>
              <a:rPr lang="it" sz="2000">
                <a:solidFill>
                  <a:schemeClr val="dk1"/>
                </a:solidFill>
              </a:rPr>
              <a:t> come from files like Player Per Game.csv or Player Totals.csv. 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20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>
            <a:spLocks noGrp="1"/>
          </p:cNvSpPr>
          <p:nvPr>
            <p:ph type="title"/>
          </p:nvPr>
        </p:nvSpPr>
        <p:spPr>
          <a:xfrm>
            <a:off x="2676281" y="159275"/>
            <a:ext cx="3148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E/R -&gt; relations </a:t>
            </a:r>
            <a:endParaRPr/>
          </a:p>
        </p:txBody>
      </p:sp>
      <p:sp>
        <p:nvSpPr>
          <p:cNvPr id="96" name="Google Shape;96;p20"/>
          <p:cNvSpPr txBox="1">
            <a:spLocks noGrp="1"/>
          </p:cNvSpPr>
          <p:nvPr>
            <p:ph type="body" idx="1"/>
          </p:nvPr>
        </p:nvSpPr>
        <p:spPr>
          <a:xfrm>
            <a:off x="711750" y="959594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6858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it" sz="2000" b="1">
                <a:solidFill>
                  <a:schemeClr val="dk1"/>
                </a:solidFill>
              </a:rPr>
              <a:t>Player</a:t>
            </a:r>
            <a:r>
              <a:rPr lang="it" sz="2000">
                <a:solidFill>
                  <a:schemeClr val="dk1"/>
                </a:solidFill>
              </a:rPr>
              <a:t>(</a:t>
            </a:r>
            <a:r>
              <a:rPr lang="it" sz="2000" b="1" err="1">
                <a:solidFill>
                  <a:schemeClr val="dk1"/>
                </a:solidFill>
              </a:rPr>
              <a:t>PlayerID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err="1">
                <a:solidFill>
                  <a:schemeClr val="dk1"/>
                </a:solidFill>
              </a:rPr>
              <a:t>PlayerName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err="1">
                <a:solidFill>
                  <a:schemeClr val="dk1"/>
                </a:solidFill>
              </a:rPr>
              <a:t>BornDate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err="1">
                <a:solidFill>
                  <a:schemeClr val="dk1"/>
                </a:solidFill>
              </a:rPr>
              <a:t>Height</a:t>
            </a:r>
            <a:r>
              <a:rPr lang="it" sz="2000">
                <a:solidFill>
                  <a:schemeClr val="dk1"/>
                </a:solidFill>
              </a:rPr>
              <a:t>, Weight) </a:t>
            </a:r>
            <a:endParaRPr lang="en-US" sz="2000">
              <a:solidFill>
                <a:schemeClr val="dk1"/>
              </a:solidFill>
            </a:endParaRPr>
          </a:p>
          <a:p>
            <a:pPr marL="6858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it" sz="2000" b="1">
                <a:solidFill>
                  <a:schemeClr val="dk1"/>
                </a:solidFill>
              </a:rPr>
              <a:t>Team</a:t>
            </a:r>
            <a:r>
              <a:rPr lang="it" sz="2000">
                <a:solidFill>
                  <a:schemeClr val="dk1"/>
                </a:solidFill>
              </a:rPr>
              <a:t>(</a:t>
            </a:r>
            <a:r>
              <a:rPr lang="it" sz="2000" b="1" err="1">
                <a:solidFill>
                  <a:schemeClr val="dk1"/>
                </a:solidFill>
              </a:rPr>
              <a:t>TeamID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err="1">
                <a:solidFill>
                  <a:schemeClr val="dk1"/>
                </a:solidFill>
              </a:rPr>
              <a:t>TeamName</a:t>
            </a:r>
            <a:r>
              <a:rPr lang="it" sz="2000">
                <a:solidFill>
                  <a:schemeClr val="dk1"/>
                </a:solidFill>
              </a:rPr>
              <a:t>, City, </a:t>
            </a:r>
            <a:r>
              <a:rPr lang="it" sz="2000" err="1">
                <a:solidFill>
                  <a:schemeClr val="dk1"/>
                </a:solidFill>
              </a:rPr>
              <a:t>ArenaName</a:t>
            </a:r>
            <a:r>
              <a:rPr lang="it" sz="2000">
                <a:solidFill>
                  <a:schemeClr val="dk1"/>
                </a:solidFill>
              </a:rPr>
              <a:t>) </a:t>
            </a:r>
            <a:endParaRPr sz="2000">
              <a:solidFill>
                <a:schemeClr val="dk1"/>
              </a:solidFill>
            </a:endParaRPr>
          </a:p>
          <a:p>
            <a:pPr marL="6858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it" sz="2000" b="1">
                <a:solidFill>
                  <a:schemeClr val="dk1"/>
                </a:solidFill>
              </a:rPr>
              <a:t>Season</a:t>
            </a:r>
            <a:r>
              <a:rPr lang="it" sz="2000">
                <a:solidFill>
                  <a:schemeClr val="dk1"/>
                </a:solidFill>
              </a:rPr>
              <a:t>(</a:t>
            </a:r>
            <a:r>
              <a:rPr lang="it" sz="2000" b="1" err="1">
                <a:solidFill>
                  <a:schemeClr val="dk1"/>
                </a:solidFill>
              </a:rPr>
              <a:t>SeasonID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err="1">
                <a:solidFill>
                  <a:schemeClr val="dk1"/>
                </a:solidFill>
              </a:rPr>
              <a:t>YearStart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err="1">
                <a:solidFill>
                  <a:schemeClr val="dk1"/>
                </a:solidFill>
              </a:rPr>
              <a:t>YearEnd</a:t>
            </a:r>
            <a:r>
              <a:rPr lang="it" sz="2000">
                <a:solidFill>
                  <a:schemeClr val="dk1"/>
                </a:solidFill>
              </a:rPr>
              <a:t>) </a:t>
            </a:r>
            <a:endParaRPr sz="2000">
              <a:solidFill>
                <a:schemeClr val="dk1"/>
              </a:solidFill>
            </a:endParaRPr>
          </a:p>
          <a:p>
            <a:pPr marL="6858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it" sz="2000" b="1">
                <a:solidFill>
                  <a:schemeClr val="dk1"/>
                </a:solidFill>
              </a:rPr>
              <a:t>Game</a:t>
            </a:r>
            <a:r>
              <a:rPr lang="it" sz="2000">
                <a:solidFill>
                  <a:schemeClr val="dk1"/>
                </a:solidFill>
              </a:rPr>
              <a:t>(</a:t>
            </a:r>
            <a:r>
              <a:rPr lang="it" sz="2000" b="1" err="1">
                <a:solidFill>
                  <a:schemeClr val="dk1"/>
                </a:solidFill>
              </a:rPr>
              <a:t>GameID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err="1">
                <a:solidFill>
                  <a:schemeClr val="dk1"/>
                </a:solidFill>
              </a:rPr>
              <a:t>GameDate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err="1">
                <a:solidFill>
                  <a:schemeClr val="dk1"/>
                </a:solidFill>
              </a:rPr>
              <a:t>Attendance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b="1" err="1">
                <a:solidFill>
                  <a:schemeClr val="dk1"/>
                </a:solidFill>
              </a:rPr>
              <a:t>SeasonID</a:t>
            </a:r>
            <a:r>
              <a:rPr lang="it" sz="2000" err="1">
                <a:solidFill>
                  <a:schemeClr val="dk1"/>
                </a:solidFill>
              </a:rPr>
              <a:t>→Season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b="1" err="1">
                <a:solidFill>
                  <a:schemeClr val="dk1"/>
                </a:solidFill>
              </a:rPr>
              <a:t>HomeTeamID</a:t>
            </a:r>
            <a:r>
              <a:rPr lang="it" sz="2000" err="1">
                <a:solidFill>
                  <a:schemeClr val="dk1"/>
                </a:solidFill>
              </a:rPr>
              <a:t>→Team</a:t>
            </a:r>
            <a:r>
              <a:rPr lang="it" sz="2000">
                <a:solidFill>
                  <a:schemeClr val="dk1"/>
                </a:solidFill>
              </a:rPr>
              <a:t>) </a:t>
            </a:r>
            <a:endParaRPr sz="2000">
              <a:solidFill>
                <a:schemeClr val="dk1"/>
              </a:solidFill>
            </a:endParaRPr>
          </a:p>
          <a:p>
            <a:pPr marL="6858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it" sz="2000" b="1" err="1">
                <a:solidFill>
                  <a:schemeClr val="dk1"/>
                </a:solidFill>
              </a:rPr>
              <a:t>PlayerTeamSeason</a:t>
            </a:r>
            <a:r>
              <a:rPr lang="it" sz="2000">
                <a:solidFill>
                  <a:schemeClr val="dk1"/>
                </a:solidFill>
              </a:rPr>
              <a:t>(</a:t>
            </a:r>
            <a:r>
              <a:rPr lang="it" sz="2000" b="1" err="1">
                <a:solidFill>
                  <a:schemeClr val="dk1"/>
                </a:solidFill>
              </a:rPr>
              <a:t>PlayerID</a:t>
            </a:r>
            <a:r>
              <a:rPr lang="it" sz="2000" err="1">
                <a:solidFill>
                  <a:schemeClr val="dk1"/>
                </a:solidFill>
              </a:rPr>
              <a:t>→Player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b="1" err="1">
                <a:solidFill>
                  <a:schemeClr val="dk1"/>
                </a:solidFill>
              </a:rPr>
              <a:t>TeamID</a:t>
            </a:r>
            <a:r>
              <a:rPr lang="it" sz="2000" err="1">
                <a:solidFill>
                  <a:schemeClr val="dk1"/>
                </a:solidFill>
              </a:rPr>
              <a:t>→Team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b="1" err="1">
                <a:solidFill>
                  <a:schemeClr val="dk1"/>
                </a:solidFill>
              </a:rPr>
              <a:t>SeasonID</a:t>
            </a:r>
            <a:r>
              <a:rPr lang="it" sz="2000" err="1">
                <a:solidFill>
                  <a:schemeClr val="dk1"/>
                </a:solidFill>
              </a:rPr>
              <a:t>→Season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err="1">
                <a:solidFill>
                  <a:schemeClr val="dk1"/>
                </a:solidFill>
              </a:rPr>
              <a:t>StartDate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err="1">
                <a:solidFill>
                  <a:schemeClr val="dk1"/>
                </a:solidFill>
              </a:rPr>
              <a:t>EndDate</a:t>
            </a:r>
            <a:r>
              <a:rPr lang="it" sz="2000">
                <a:solidFill>
                  <a:schemeClr val="dk1"/>
                </a:solidFill>
              </a:rPr>
              <a:t>) </a:t>
            </a:r>
            <a:br>
              <a:rPr lang="it" sz="2000"/>
            </a:br>
            <a:r>
              <a:rPr lang="it" sz="2000">
                <a:solidFill>
                  <a:schemeClr val="dk1"/>
                </a:solidFill>
              </a:rPr>
              <a:t> PK = (</a:t>
            </a:r>
            <a:r>
              <a:rPr lang="it" sz="2000" err="1">
                <a:solidFill>
                  <a:schemeClr val="dk1"/>
                </a:solidFill>
              </a:rPr>
              <a:t>PlayerID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err="1">
                <a:solidFill>
                  <a:schemeClr val="dk1"/>
                </a:solidFill>
              </a:rPr>
              <a:t>TeamID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err="1">
                <a:solidFill>
                  <a:schemeClr val="dk1"/>
                </a:solidFill>
              </a:rPr>
              <a:t>SeasonID</a:t>
            </a:r>
            <a:r>
              <a:rPr lang="it" sz="2000">
                <a:solidFill>
                  <a:schemeClr val="dk1"/>
                </a:solidFill>
              </a:rPr>
              <a:t>) </a:t>
            </a:r>
            <a:endParaRPr sz="2000">
              <a:solidFill>
                <a:schemeClr val="dk1"/>
              </a:solidFill>
            </a:endParaRPr>
          </a:p>
          <a:p>
            <a:pPr marL="6858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it" sz="2000" b="1" err="1">
                <a:solidFill>
                  <a:schemeClr val="dk1"/>
                </a:solidFill>
              </a:rPr>
              <a:t>Draft_Pick</a:t>
            </a:r>
            <a:r>
              <a:rPr lang="it" sz="2000">
                <a:solidFill>
                  <a:schemeClr val="dk1"/>
                </a:solidFill>
              </a:rPr>
              <a:t>(</a:t>
            </a:r>
            <a:r>
              <a:rPr lang="it" sz="2000" b="1" err="1">
                <a:solidFill>
                  <a:schemeClr val="dk1"/>
                </a:solidFill>
              </a:rPr>
              <a:t>DraftPickID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err="1">
                <a:solidFill>
                  <a:schemeClr val="dk1"/>
                </a:solidFill>
              </a:rPr>
              <a:t>OverallPick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err="1">
                <a:solidFill>
                  <a:schemeClr val="dk1"/>
                </a:solidFill>
              </a:rPr>
              <a:t>DraftYear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b="1" err="1">
                <a:solidFill>
                  <a:schemeClr val="dk1"/>
                </a:solidFill>
              </a:rPr>
              <a:t>PlayerID</a:t>
            </a:r>
            <a:r>
              <a:rPr lang="it" sz="2000" err="1">
                <a:solidFill>
                  <a:schemeClr val="dk1"/>
                </a:solidFill>
              </a:rPr>
              <a:t>→Player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b="1" err="1">
                <a:solidFill>
                  <a:schemeClr val="dk1"/>
                </a:solidFill>
              </a:rPr>
              <a:t>SeasonID</a:t>
            </a:r>
            <a:r>
              <a:rPr lang="it" sz="2000" err="1">
                <a:solidFill>
                  <a:schemeClr val="dk1"/>
                </a:solidFill>
              </a:rPr>
              <a:t>→Season</a:t>
            </a:r>
            <a:r>
              <a:rPr lang="it" sz="2000">
                <a:solidFill>
                  <a:schemeClr val="dk1"/>
                </a:solidFill>
              </a:rPr>
              <a:t>) 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2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>
            <a:spLocks noGrp="1"/>
          </p:cNvSpPr>
          <p:nvPr>
            <p:ph type="title"/>
          </p:nvPr>
        </p:nvSpPr>
        <p:spPr>
          <a:xfrm>
            <a:off x="2862019" y="152131"/>
            <a:ext cx="3427107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E/R -&gt; relations </a:t>
            </a:r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body" idx="1"/>
          </p:nvPr>
        </p:nvSpPr>
        <p:spPr>
          <a:xfrm>
            <a:off x="533156" y="1031031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685800" indent="-304800">
              <a:buClr>
                <a:schemeClr val="dk1"/>
              </a:buClr>
              <a:buSzPts val="1200"/>
            </a:pPr>
            <a:r>
              <a:rPr lang="it" sz="2000" b="1" err="1">
                <a:solidFill>
                  <a:schemeClr val="dk1"/>
                </a:solidFill>
              </a:rPr>
              <a:t>All_Star</a:t>
            </a:r>
            <a:r>
              <a:rPr lang="it" sz="2000">
                <a:solidFill>
                  <a:schemeClr val="dk1"/>
                </a:solidFill>
              </a:rPr>
              <a:t>(</a:t>
            </a:r>
            <a:r>
              <a:rPr lang="it" sz="2000" b="1" err="1">
                <a:solidFill>
                  <a:schemeClr val="dk1"/>
                </a:solidFill>
              </a:rPr>
              <a:t>AllStarID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err="1">
                <a:solidFill>
                  <a:schemeClr val="dk1"/>
                </a:solidFill>
              </a:rPr>
              <a:t>SelectionYear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err="1">
                <a:solidFill>
                  <a:schemeClr val="dk1"/>
                </a:solidFill>
              </a:rPr>
              <a:t>SelectionType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b="1">
                <a:solidFill>
                  <a:schemeClr val="dk1"/>
                </a:solidFill>
              </a:rPr>
              <a:t>PlayerID</a:t>
            </a:r>
            <a:r>
              <a:rPr lang="it" sz="2000">
                <a:solidFill>
                  <a:schemeClr val="dk1"/>
                </a:solidFill>
              </a:rPr>
              <a:t>→Player) </a:t>
            </a:r>
            <a:endParaRPr lang="en-US" sz="2000">
              <a:solidFill>
                <a:schemeClr val="dk1"/>
              </a:solidFill>
            </a:endParaRPr>
          </a:p>
          <a:p>
            <a:pPr marL="685800" indent="-304800">
              <a:buClr>
                <a:schemeClr val="dk1"/>
              </a:buClr>
              <a:buSzPts val="1200"/>
            </a:pPr>
            <a:r>
              <a:rPr lang="it" sz="2000" b="1">
                <a:solidFill>
                  <a:schemeClr val="dk1"/>
                </a:solidFill>
              </a:rPr>
              <a:t>Award</a:t>
            </a:r>
            <a:r>
              <a:rPr lang="it" sz="2000">
                <a:solidFill>
                  <a:schemeClr val="dk1"/>
                </a:solidFill>
              </a:rPr>
              <a:t>(</a:t>
            </a:r>
            <a:r>
              <a:rPr lang="it" sz="2000" b="1" err="1">
                <a:solidFill>
                  <a:schemeClr val="dk1"/>
                </a:solidFill>
              </a:rPr>
              <a:t>AwardID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err="1">
                <a:solidFill>
                  <a:schemeClr val="dk1"/>
                </a:solidFill>
              </a:rPr>
              <a:t>AwardName</a:t>
            </a:r>
            <a:r>
              <a:rPr lang="it" sz="2000">
                <a:solidFill>
                  <a:schemeClr val="dk1"/>
                </a:solidFill>
              </a:rPr>
              <a:t>) </a:t>
            </a:r>
            <a:endParaRPr sz="2000">
              <a:solidFill>
                <a:schemeClr val="dk1"/>
              </a:solidFill>
            </a:endParaRPr>
          </a:p>
          <a:p>
            <a:pPr marL="685800" indent="-304800">
              <a:buClr>
                <a:schemeClr val="dk1"/>
              </a:buClr>
              <a:buSzPts val="1200"/>
            </a:pPr>
            <a:r>
              <a:rPr lang="it" sz="2000" b="1" err="1">
                <a:solidFill>
                  <a:schemeClr val="dk1"/>
                </a:solidFill>
              </a:rPr>
              <a:t>Player_Award</a:t>
            </a:r>
            <a:r>
              <a:rPr lang="it" sz="2000">
                <a:solidFill>
                  <a:schemeClr val="dk1"/>
                </a:solidFill>
              </a:rPr>
              <a:t>(</a:t>
            </a:r>
            <a:r>
              <a:rPr lang="it" sz="2000" b="1" err="1">
                <a:solidFill>
                  <a:schemeClr val="dk1"/>
                </a:solidFill>
              </a:rPr>
              <a:t>PlayerID</a:t>
            </a:r>
            <a:r>
              <a:rPr lang="it" sz="2000" err="1">
                <a:solidFill>
                  <a:schemeClr val="dk1"/>
                </a:solidFill>
              </a:rPr>
              <a:t>→Player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b="1" err="1">
                <a:solidFill>
                  <a:schemeClr val="dk1"/>
                </a:solidFill>
              </a:rPr>
              <a:t>AwardID</a:t>
            </a:r>
            <a:r>
              <a:rPr lang="it" sz="2000" err="1">
                <a:solidFill>
                  <a:schemeClr val="dk1"/>
                </a:solidFill>
              </a:rPr>
              <a:t>→Award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b="1" err="1">
                <a:solidFill>
                  <a:schemeClr val="dk1"/>
                </a:solidFill>
              </a:rPr>
              <a:t>AwardYear</a:t>
            </a:r>
            <a:r>
              <a:rPr lang="it" sz="2000">
                <a:solidFill>
                  <a:schemeClr val="dk1"/>
                </a:solidFill>
              </a:rPr>
              <a:t>) </a:t>
            </a:r>
            <a:br>
              <a:rPr lang="it" sz="2000"/>
            </a:br>
            <a:r>
              <a:rPr lang="it" sz="2000">
                <a:solidFill>
                  <a:schemeClr val="dk1"/>
                </a:solidFill>
              </a:rPr>
              <a:t> PK = (</a:t>
            </a:r>
            <a:r>
              <a:rPr lang="it" sz="2000" err="1">
                <a:solidFill>
                  <a:schemeClr val="dk1"/>
                </a:solidFill>
              </a:rPr>
              <a:t>PlayerID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err="1">
                <a:solidFill>
                  <a:schemeClr val="dk1"/>
                </a:solidFill>
              </a:rPr>
              <a:t>AwardID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err="1">
                <a:solidFill>
                  <a:schemeClr val="dk1"/>
                </a:solidFill>
              </a:rPr>
              <a:t>AwardYear</a:t>
            </a:r>
            <a:r>
              <a:rPr lang="it" sz="2000">
                <a:solidFill>
                  <a:schemeClr val="dk1"/>
                </a:solidFill>
              </a:rPr>
              <a:t>) </a:t>
            </a:r>
            <a:endParaRPr sz="2000">
              <a:solidFill>
                <a:schemeClr val="dk1"/>
              </a:solidFill>
            </a:endParaRPr>
          </a:p>
          <a:p>
            <a:pPr marL="6858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it" sz="2000" b="1" err="1">
                <a:solidFill>
                  <a:schemeClr val="dk1"/>
                </a:solidFill>
              </a:rPr>
              <a:t>PlayerGameStats</a:t>
            </a:r>
            <a:r>
              <a:rPr lang="it" sz="2000">
                <a:solidFill>
                  <a:schemeClr val="dk1"/>
                </a:solidFill>
              </a:rPr>
              <a:t>(</a:t>
            </a:r>
            <a:r>
              <a:rPr lang="it" sz="2000" b="1" err="1">
                <a:solidFill>
                  <a:schemeClr val="dk1"/>
                </a:solidFill>
              </a:rPr>
              <a:t>StatsID</a:t>
            </a:r>
            <a:r>
              <a:rPr lang="it" sz="2000">
                <a:solidFill>
                  <a:schemeClr val="dk1"/>
                </a:solidFill>
              </a:rPr>
              <a:t>, Points, Rebounds, Assists, </a:t>
            </a:r>
            <a:r>
              <a:rPr lang="it" sz="2000" err="1">
                <a:solidFill>
                  <a:schemeClr val="dk1"/>
                </a:solidFill>
              </a:rPr>
              <a:t>Steals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err="1">
                <a:solidFill>
                  <a:schemeClr val="dk1"/>
                </a:solidFill>
              </a:rPr>
              <a:t>Blocks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b="1" err="1">
                <a:solidFill>
                  <a:schemeClr val="dk1"/>
                </a:solidFill>
              </a:rPr>
              <a:t>GameID</a:t>
            </a:r>
            <a:r>
              <a:rPr lang="it" sz="2000" err="1">
                <a:solidFill>
                  <a:schemeClr val="dk1"/>
                </a:solidFill>
              </a:rPr>
              <a:t>→Game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b="1" err="1">
                <a:solidFill>
                  <a:schemeClr val="dk1"/>
                </a:solidFill>
              </a:rPr>
              <a:t>PlayerID</a:t>
            </a:r>
            <a:r>
              <a:rPr lang="it" sz="2000" err="1">
                <a:solidFill>
                  <a:schemeClr val="dk1"/>
                </a:solidFill>
              </a:rPr>
              <a:t>→Player</a:t>
            </a:r>
            <a:r>
              <a:rPr lang="it" sz="2000">
                <a:solidFill>
                  <a:schemeClr val="dk1"/>
                </a:solidFill>
              </a:rPr>
              <a:t>) </a:t>
            </a:r>
            <a:br>
              <a:rPr lang="it" sz="2000"/>
            </a:br>
            <a:r>
              <a:rPr lang="it" sz="2000">
                <a:solidFill>
                  <a:schemeClr val="dk1"/>
                </a:solidFill>
              </a:rPr>
              <a:t> UNIQUE(</a:t>
            </a:r>
            <a:r>
              <a:rPr lang="it" sz="2000" err="1">
                <a:solidFill>
                  <a:schemeClr val="dk1"/>
                </a:solidFill>
              </a:rPr>
              <a:t>GameID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err="1">
                <a:solidFill>
                  <a:schemeClr val="dk1"/>
                </a:solidFill>
              </a:rPr>
              <a:t>PlayerID</a:t>
            </a:r>
            <a:r>
              <a:rPr lang="it" sz="2000">
                <a:solidFill>
                  <a:schemeClr val="dk1"/>
                </a:solidFill>
              </a:rPr>
              <a:t>) </a:t>
            </a:r>
            <a:endParaRPr sz="2000">
              <a:solidFill>
                <a:schemeClr val="dk1"/>
              </a:solidFill>
            </a:endParaRPr>
          </a:p>
          <a:p>
            <a:pPr marL="6858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it" sz="2000" b="1" err="1">
                <a:solidFill>
                  <a:schemeClr val="dk1"/>
                </a:solidFill>
              </a:rPr>
              <a:t>TeamGameStats</a:t>
            </a:r>
            <a:r>
              <a:rPr lang="it" sz="2000">
                <a:solidFill>
                  <a:schemeClr val="dk1"/>
                </a:solidFill>
              </a:rPr>
              <a:t>(</a:t>
            </a:r>
            <a:r>
              <a:rPr lang="it" sz="2000" b="1" err="1">
                <a:solidFill>
                  <a:schemeClr val="dk1"/>
                </a:solidFill>
              </a:rPr>
              <a:t>StatsID</a:t>
            </a:r>
            <a:r>
              <a:rPr lang="it" sz="2000">
                <a:solidFill>
                  <a:schemeClr val="dk1"/>
                </a:solidFill>
              </a:rPr>
              <a:t>, Points, Rebounds, Assists, </a:t>
            </a:r>
            <a:r>
              <a:rPr lang="it" sz="2000" err="1">
                <a:solidFill>
                  <a:schemeClr val="dk1"/>
                </a:solidFill>
              </a:rPr>
              <a:t>Steals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err="1">
                <a:solidFill>
                  <a:schemeClr val="dk1"/>
                </a:solidFill>
              </a:rPr>
              <a:t>Blocks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b="1" err="1">
                <a:solidFill>
                  <a:schemeClr val="dk1"/>
                </a:solidFill>
              </a:rPr>
              <a:t>GameID</a:t>
            </a:r>
            <a:r>
              <a:rPr lang="it" sz="2000" err="1">
                <a:solidFill>
                  <a:schemeClr val="dk1"/>
                </a:solidFill>
              </a:rPr>
              <a:t>→Game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b="1" err="1">
                <a:solidFill>
                  <a:schemeClr val="dk1"/>
                </a:solidFill>
              </a:rPr>
              <a:t>TeamID</a:t>
            </a:r>
            <a:r>
              <a:rPr lang="it" sz="2000" err="1">
                <a:solidFill>
                  <a:schemeClr val="dk1"/>
                </a:solidFill>
              </a:rPr>
              <a:t>→Team</a:t>
            </a:r>
            <a:r>
              <a:rPr lang="it" sz="2000">
                <a:solidFill>
                  <a:schemeClr val="dk1"/>
                </a:solidFill>
              </a:rPr>
              <a:t>) </a:t>
            </a:r>
            <a:br>
              <a:rPr lang="it" sz="2000"/>
            </a:br>
            <a:r>
              <a:rPr lang="it" sz="2000">
                <a:solidFill>
                  <a:schemeClr val="dk1"/>
                </a:solidFill>
              </a:rPr>
              <a:t> UNIQUE(</a:t>
            </a:r>
            <a:r>
              <a:rPr lang="it" sz="2000" err="1">
                <a:solidFill>
                  <a:schemeClr val="dk1"/>
                </a:solidFill>
              </a:rPr>
              <a:t>GameID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err="1">
                <a:solidFill>
                  <a:schemeClr val="dk1"/>
                </a:solidFill>
              </a:rPr>
              <a:t>TeamID</a:t>
            </a:r>
            <a:r>
              <a:rPr lang="it" sz="2000">
                <a:solidFill>
                  <a:schemeClr val="dk1"/>
                </a:solidFill>
              </a:rPr>
              <a:t>) 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200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6337AE41ED7084D9E47F59F7AD9FE2A" ma:contentTypeVersion="10" ma:contentTypeDescription="Create a new document." ma:contentTypeScope="" ma:versionID="eb8fefc4ce0e32826d34426b723e6ca3">
  <xsd:schema xmlns:xsd="http://www.w3.org/2001/XMLSchema" xmlns:xs="http://www.w3.org/2001/XMLSchema" xmlns:p="http://schemas.microsoft.com/office/2006/metadata/properties" xmlns:ns3="300fc0da-a2ef-4fa5-9ec5-e3deda915573" targetNamespace="http://schemas.microsoft.com/office/2006/metadata/properties" ma:root="true" ma:fieldsID="c623a21f7b6e7d0128787e30276b4e0e" ns3:_="">
    <xsd:import namespace="300fc0da-a2ef-4fa5-9ec5-e3deda915573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0fc0da-a2ef-4fa5-9ec5-e3deda915573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00fc0da-a2ef-4fa5-9ec5-e3deda915573" xsi:nil="true"/>
  </documentManagement>
</p:properties>
</file>

<file path=customXml/itemProps1.xml><?xml version="1.0" encoding="utf-8"?>
<ds:datastoreItem xmlns:ds="http://schemas.openxmlformats.org/officeDocument/2006/customXml" ds:itemID="{C31A67DD-4A57-4437-BBC0-E8C3AF13CC9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00fc0da-a2ef-4fa5-9ec5-e3deda91557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9E80C22-DAAC-4820-9D28-F491BF35CF1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60D1131-8C7E-4151-99BC-4CF651BCAB23}">
  <ds:schemaRefs>
    <ds:schemaRef ds:uri="http://purl.org/dc/terms/"/>
    <ds:schemaRef ds:uri="300fc0da-a2ef-4fa5-9ec5-e3deda915573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1534</Words>
  <Application>Microsoft Office PowerPoint</Application>
  <PresentationFormat>On-screen Show (16:9)</PresentationFormat>
  <Paragraphs>154</Paragraphs>
  <Slides>19</Slides>
  <Notes>10</Notes>
  <HiddenSlides>8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Corbel</vt:lpstr>
      <vt:lpstr>Times New Roman</vt:lpstr>
      <vt:lpstr>Parallax</vt:lpstr>
      <vt:lpstr>NBA Stats App</vt:lpstr>
      <vt:lpstr>System Description</vt:lpstr>
      <vt:lpstr>Use Cases</vt:lpstr>
      <vt:lpstr>Use Cases</vt:lpstr>
      <vt:lpstr>Use Cases</vt:lpstr>
      <vt:lpstr>Use Cases</vt:lpstr>
      <vt:lpstr>Use Cases</vt:lpstr>
      <vt:lpstr>E/R diagram</vt:lpstr>
      <vt:lpstr>Relational Schema</vt:lpstr>
      <vt:lpstr>Implementation Details</vt:lpstr>
      <vt:lpstr>Implementation Details</vt:lpstr>
      <vt:lpstr>Use Case</vt:lpstr>
      <vt:lpstr>UML Diagram</vt:lpstr>
      <vt:lpstr>Use Case</vt:lpstr>
      <vt:lpstr>UML Diagram</vt:lpstr>
      <vt:lpstr>Entities</vt:lpstr>
      <vt:lpstr>Entities</vt:lpstr>
      <vt:lpstr>E/R -&gt; relations </vt:lpstr>
      <vt:lpstr>E/R -&gt; relations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Joshua Lee</dc:creator>
  <cp:lastModifiedBy>Joshua Lee</cp:lastModifiedBy>
  <cp:revision>5</cp:revision>
  <dcterms:modified xsi:type="dcterms:W3CDTF">2025-12-11T02:24:59Z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0x01010036337AE41ED7084D9E47F59F7AD9FE2A</vt:lpwstr>
  </property>
</Properties>
</file>