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5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BB87E-10B0-4C28-A39B-FA66678C215D}" v="49" dt="2025-10-22T22:37:11.706"/>
    <p1510:client id="{34970906-8AA6-4C66-A1C3-FB680592837B}" v="122" dt="2025-10-24T00:13:02.142"/>
    <p1510:client id="{8C5AEC4B-F44A-4230-94D4-192345911FA3}" v="30" dt="2025-10-22T21:43:26.459"/>
    <p1510:client id="{A67AFCBC-04A3-4348-84F4-CA91A0D80AC9}" v="16" dt="2025-10-24T00:26:57.549"/>
    <p1510:client id="{C0613996-EF0C-4694-8B1B-F5EA5206A069}" v="7" dt="2025-10-24T00:15:54.574"/>
    <p1510:client id="{EAEA4061-1E7A-4E6C-BBE2-4F3C612F7344}" v="48" dt="2025-10-22T22:45:07.489"/>
    <p1510:client id="{F292D0D9-0D1C-4095-97B7-2E800A09CFD5}" v="6" dt="2025-10-23T21:36:06.226"/>
    <p1510:client id="{FB62C836-04EC-4021-ABD2-45F24556CC13}" v="33" dt="2025-10-24T00:27:16.4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c4666d4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c4666d4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EC05B3A-CF6D-F630-425D-7316B64A0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>
            <a:extLst>
              <a:ext uri="{FF2B5EF4-FFF2-40B4-BE49-F238E27FC236}">
                <a16:creationId xmlns:a16="http://schemas.microsoft.com/office/drawing/2014/main" id="{86F10142-8EF7-60C2-F3A6-B5BCE0BC4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>
            <a:extLst>
              <a:ext uri="{FF2B5EF4-FFF2-40B4-BE49-F238E27FC236}">
                <a16:creationId xmlns:a16="http://schemas.microsoft.com/office/drawing/2014/main" id="{328E4340-2871-88DD-1448-C6A4C6797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224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c4666d44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c4666d44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c4666d44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c4666d44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c4666d44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c4666d44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c4666d44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c4666d44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c4666d444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c4666d444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c4666d44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c4666d44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c4666d444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c4666d444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10667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3733">
                <a:solidFill>
                  <a:schemeClr val="tx1"/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43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7111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4978" b="0">
                <a:solidFill>
                  <a:schemeClr val="accent1">
                    <a:lumMod val="75000"/>
                  </a:schemeClr>
                </a:solidFill>
              </a:defRPr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44"/>
            </a:lvl2pPr>
            <a:lvl3pPr>
              <a:defRPr sz="248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0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02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  <a:lvl6pPr>
              <a:defRPr sz="2489"/>
            </a:lvl6pPr>
            <a:lvl7pPr>
              <a:defRPr sz="2489"/>
            </a:lvl7pPr>
            <a:lvl8pPr>
              <a:defRPr sz="2489"/>
            </a:lvl8pPr>
            <a:lvl9pPr>
              <a:defRPr sz="24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09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4978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90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4267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2489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6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33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/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5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5689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3556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958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4222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4222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568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4267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978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754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55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487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530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8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4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974845" y="306390"/>
            <a:ext cx="6430967" cy="196214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/>
          <a:p>
            <a:r>
              <a:rPr lang="en-US" sz="10650"/>
              <a:t>NBA Stats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100658" y="2997200"/>
            <a:ext cx="6526609" cy="10414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en-US" sz="3700"/>
              <a:t>Yiannis Karydis  | Nicola </a:t>
            </a:r>
            <a:r>
              <a:rPr lang="en-US" sz="3700" err="1"/>
              <a:t>Cisbani</a:t>
            </a:r>
            <a:r>
              <a:rPr lang="en-US" sz="3700"/>
              <a:t> | Joshua Lee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1247531" y="18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1376118" y="1152475"/>
            <a:ext cx="74561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Read Action: 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err="1"/>
              <a:t>As</a:t>
            </a:r>
            <a:r>
              <a:rPr lang="it"/>
              <a:t> a user, I </a:t>
            </a:r>
            <a:r>
              <a:rPr lang="it" err="1"/>
              <a:t>want</a:t>
            </a:r>
            <a:r>
              <a:rPr lang="it"/>
              <a:t> to </a:t>
            </a:r>
            <a:r>
              <a:rPr lang="it" err="1"/>
              <a:t>view</a:t>
            </a:r>
            <a:r>
              <a:rPr lang="it"/>
              <a:t> information </a:t>
            </a:r>
            <a:r>
              <a:rPr lang="it" err="1"/>
              <a:t>based</a:t>
            </a:r>
            <a:r>
              <a:rPr lang="it"/>
              <a:t> on a </a:t>
            </a:r>
            <a:r>
              <a:rPr lang="it" err="1"/>
              <a:t>specific</a:t>
            </a:r>
            <a:r>
              <a:rPr lang="it"/>
              <a:t> action (like a </a:t>
            </a:r>
            <a:r>
              <a:rPr lang="it" err="1"/>
              <a:t>specific</a:t>
            </a:r>
            <a:r>
              <a:rPr lang="it"/>
              <a:t> player </a:t>
            </a:r>
            <a:r>
              <a:rPr lang="it" err="1"/>
              <a:t>stat</a:t>
            </a:r>
            <a:r>
              <a:rPr lang="it"/>
              <a:t>, the list of last </a:t>
            </a:r>
            <a:r>
              <a:rPr lang="it" err="1"/>
              <a:t>year</a:t>
            </a:r>
            <a:r>
              <a:rPr lang="it"/>
              <a:t> awards, ...).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input action, the Application accesses the DB </a:t>
            </a:r>
            <a:r>
              <a:rPr lang="it" err="1"/>
              <a:t>tables</a:t>
            </a:r>
            <a:r>
              <a:rPr lang="it"/>
              <a:t> and </a:t>
            </a:r>
            <a:r>
              <a:rPr lang="it" err="1"/>
              <a:t>returns</a:t>
            </a:r>
            <a:r>
              <a:rPr lang="it"/>
              <a:t> the information.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C6C2D18-C1E5-80A2-FA89-C76650E90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>
            <a:extLst>
              <a:ext uri="{FF2B5EF4-FFF2-40B4-BE49-F238E27FC236}">
                <a16:creationId xmlns:a16="http://schemas.microsoft.com/office/drawing/2014/main" id="{CF418CE0-709A-AF03-9DDC-C8CFB914A1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7794" y="211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2CD30309-05EF-5313-F60E-FF986501A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616" y="655485"/>
            <a:ext cx="5415349" cy="398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64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912150" y="423594"/>
            <a:ext cx="2348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 Case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490418" y="1152475"/>
            <a:ext cx="73418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Write Action:</a:t>
            </a:r>
            <a:r>
              <a:rPr lang="it"/>
              <a:t> 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b="1"/>
              <a:t>Update Player Roster </a:t>
            </a:r>
            <a:r>
              <a:rPr lang="it" b="1" err="1"/>
              <a:t>Mid</a:t>
            </a:r>
            <a:r>
              <a:rPr lang="it" b="1"/>
              <a:t>-Season:</a:t>
            </a:r>
            <a:r>
              <a:rPr lang="it"/>
              <a:t> </a:t>
            </a:r>
            <a:r>
              <a:rPr lang="it" err="1"/>
              <a:t>As</a:t>
            </a:r>
            <a:r>
              <a:rPr lang="it"/>
              <a:t> </a:t>
            </a:r>
            <a:r>
              <a:rPr lang="it" err="1"/>
              <a:t>administrator</a:t>
            </a:r>
            <a:r>
              <a:rPr lang="it"/>
              <a:t>, I </a:t>
            </a:r>
            <a:r>
              <a:rPr lang="it" err="1"/>
              <a:t>want</a:t>
            </a:r>
            <a:r>
              <a:rPr lang="it"/>
              <a:t> to update a </a:t>
            </a:r>
            <a:r>
              <a:rPr lang="it" err="1"/>
              <a:t>player's</a:t>
            </a:r>
            <a:r>
              <a:rPr lang="it"/>
              <a:t> team in the database so I can </a:t>
            </a:r>
            <a:r>
              <a:rPr lang="it" err="1"/>
              <a:t>accurately</a:t>
            </a:r>
            <a:r>
              <a:rPr lang="it"/>
              <a:t> track </a:t>
            </a:r>
            <a:r>
              <a:rPr lang="it" err="1"/>
              <a:t>their</a:t>
            </a:r>
            <a:r>
              <a:rPr lang="it"/>
              <a:t> tenure and </a:t>
            </a:r>
            <a:r>
              <a:rPr lang="it" err="1"/>
              <a:t>stats</a:t>
            </a:r>
            <a:r>
              <a:rPr lang="it"/>
              <a:t> following a trade. </a:t>
            </a:r>
            <a:endParaRPr/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/>
              <a:t>Given the Admin </a:t>
            </a:r>
            <a:r>
              <a:rPr lang="it" err="1"/>
              <a:t>initiates</a:t>
            </a:r>
            <a:r>
              <a:rPr lang="it"/>
              <a:t> a roster </a:t>
            </a:r>
            <a:r>
              <a:rPr lang="it" err="1"/>
              <a:t>change</a:t>
            </a:r>
            <a:r>
              <a:rPr lang="it"/>
              <a:t> (an INSERT </a:t>
            </a:r>
            <a:r>
              <a:rPr lang="it" err="1"/>
              <a:t>into</a:t>
            </a:r>
            <a:r>
              <a:rPr lang="it"/>
              <a:t> DB), </a:t>
            </a:r>
            <a:r>
              <a:rPr lang="it" err="1"/>
              <a:t>if</a:t>
            </a:r>
            <a:r>
              <a:rPr lang="it"/>
              <a:t> the admin </a:t>
            </a:r>
            <a:r>
              <a:rPr lang="it" err="1"/>
              <a:t>is</a:t>
            </a:r>
            <a:r>
              <a:rPr lang="it"/>
              <a:t> </a:t>
            </a:r>
            <a:r>
              <a:rPr lang="it" err="1"/>
              <a:t>not</a:t>
            </a:r>
            <a:r>
              <a:rPr lang="it"/>
              <a:t> </a:t>
            </a:r>
            <a:r>
              <a:rPr lang="it" err="1"/>
              <a:t>logged</a:t>
            </a:r>
            <a:r>
              <a:rPr lang="it"/>
              <a:t> in, the System prompts for a password to </a:t>
            </a:r>
            <a:r>
              <a:rPr lang="it" err="1"/>
              <a:t>grant</a:t>
            </a:r>
            <a:r>
              <a:rPr lang="it"/>
              <a:t> </a:t>
            </a:r>
            <a:r>
              <a:rPr lang="it" err="1"/>
              <a:t>write</a:t>
            </a:r>
            <a:r>
              <a:rPr lang="it"/>
              <a:t> </a:t>
            </a:r>
            <a:r>
              <a:rPr lang="it" err="1"/>
              <a:t>privileges</a:t>
            </a:r>
            <a:r>
              <a:rPr lang="it"/>
              <a:t>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2746131" y="2113"/>
            <a:ext cx="2969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UML Diagram</a:t>
            </a:r>
            <a:endParaRPr/>
          </a:p>
        </p:txBody>
      </p:sp>
      <p:pic>
        <p:nvPicPr>
          <p:cNvPr id="3" name="Picture 2" descr="PlantUML Diagram">
            <a:extLst>
              <a:ext uri="{FF2B5EF4-FFF2-40B4-BE49-F238E27FC236}">
                <a16:creationId xmlns:a16="http://schemas.microsoft.com/office/drawing/2014/main" id="{41AB7804-457C-08EB-DC40-91DC687B0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4195" y="774571"/>
            <a:ext cx="262937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590681" y="252144"/>
            <a:ext cx="18269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016744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Player</a:t>
            </a:r>
            <a:r>
              <a:rPr lang="en-US" sz="2000">
                <a:solidFill>
                  <a:schemeClr val="dk1"/>
                </a:solidFill>
              </a:rPr>
              <a:t>: This table would contain basic information about players, such as their height, weight, college, and birth date. Data for this table would come from files like </a:t>
            </a:r>
            <a:r>
              <a:rPr lang="en-US" sz="2000" i="1" u="sng">
                <a:solidFill>
                  <a:schemeClr val="dk1"/>
                </a:solidFill>
              </a:rPr>
              <a:t>Player Career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Team</a:t>
            </a:r>
            <a:r>
              <a:rPr lang="en-US" sz="2000">
                <a:solidFill>
                  <a:schemeClr val="dk1"/>
                </a:solidFill>
              </a:rPr>
              <a:t>: This table would hold information about each team, including full names, abbreviations, city, and home arena. Information would be derived from files like Team Abbrev.csv or Team Summaries.csv.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Season</a:t>
            </a:r>
            <a:r>
              <a:rPr lang="en-US" sz="2000">
                <a:solidFill>
                  <a:schemeClr val="dk1"/>
                </a:solidFill>
              </a:rPr>
              <a:t>: This table would list all league seasons with their start and end years. It would serve as a support table to link player and team stats to a specific season with </a:t>
            </a:r>
            <a:r>
              <a:rPr lang="en-US" sz="2000" i="1" u="sng">
                <a:solidFill>
                  <a:schemeClr val="dk1"/>
                </a:solidFill>
              </a:rPr>
              <a:t>Player Season Info.csv</a:t>
            </a:r>
            <a:r>
              <a:rPr lang="en-US" sz="2000">
                <a:solidFill>
                  <a:schemeClr val="dk1"/>
                </a:solidFill>
              </a:rPr>
              <a:t>. </a:t>
            </a: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-US" sz="2000" b="1">
                <a:solidFill>
                  <a:schemeClr val="dk1"/>
                </a:solidFill>
              </a:rPr>
              <a:t>Game</a:t>
            </a:r>
            <a:r>
              <a:rPr lang="en-US" sz="2000">
                <a:solidFill>
                  <a:schemeClr val="dk1"/>
                </a:solidFill>
              </a:rPr>
              <a:t>: This table would include details about each individual game, such as the date, final scores, and the teams that played. Data could be obtained from </a:t>
            </a:r>
            <a:r>
              <a:rPr lang="en-US" sz="2000" i="1" u="sng">
                <a:solidFill>
                  <a:schemeClr val="dk1"/>
                </a:solidFill>
              </a:rPr>
              <a:t>Game.csv</a:t>
            </a:r>
            <a:r>
              <a:rPr lang="en-US" sz="2000">
                <a:solidFill>
                  <a:schemeClr val="dk1"/>
                </a:solidFill>
              </a:rPr>
              <a:t> or game summary files. 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590681" y="21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Entities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626025" y="752425"/>
            <a:ext cx="8520600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Draft Pick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draft history, </a:t>
            </a:r>
            <a:r>
              <a:rPr lang="it" sz="2000" err="1">
                <a:solidFill>
                  <a:schemeClr val="dk1"/>
                </a:solidFill>
              </a:rPr>
              <a:t>including</a:t>
            </a:r>
            <a:r>
              <a:rPr lang="it" sz="2000">
                <a:solidFill>
                  <a:schemeClr val="dk1"/>
                </a:solidFill>
              </a:rPr>
              <a:t> the draft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 and </a:t>
            </a:r>
            <a:r>
              <a:rPr lang="it" sz="2000" err="1">
                <a:solidFill>
                  <a:schemeClr val="dk1"/>
                </a:solidFill>
              </a:rPr>
              <a:t>their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number</a:t>
            </a:r>
            <a:r>
              <a:rPr lang="it" sz="2000">
                <a:solidFill>
                  <a:schemeClr val="dk1"/>
                </a:solidFill>
              </a:rPr>
              <a:t>. The data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the </a:t>
            </a:r>
            <a:r>
              <a:rPr lang="it" sz="2000" i="1" u="sng">
                <a:solidFill>
                  <a:schemeClr val="dk1"/>
                </a:solidFill>
              </a:rPr>
              <a:t>Draft Pick History.csv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All</a:t>
            </a:r>
            <a:r>
              <a:rPr lang="it" sz="2000" b="1">
                <a:solidFill>
                  <a:schemeClr val="dk1"/>
                </a:solidFill>
              </a:rPr>
              <a:t>-Star </a:t>
            </a:r>
            <a:r>
              <a:rPr lang="it" sz="2000" b="1" err="1">
                <a:solidFill>
                  <a:schemeClr val="dk1"/>
                </a:solidFill>
              </a:rPr>
              <a:t>Selection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record </a:t>
            </a:r>
            <a:r>
              <a:rPr lang="it" sz="2000" err="1">
                <a:solidFill>
                  <a:schemeClr val="dk1"/>
                </a:solidFill>
              </a:rPr>
              <a:t>every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instance</a:t>
            </a:r>
            <a:r>
              <a:rPr lang="it" sz="2000">
                <a:solidFill>
                  <a:schemeClr val="dk1"/>
                </a:solidFill>
              </a:rPr>
              <a:t> a player </a:t>
            </a:r>
            <a:r>
              <a:rPr lang="it" sz="2000" err="1">
                <a:solidFill>
                  <a:schemeClr val="dk1"/>
                </a:solidFill>
              </a:rPr>
              <a:t>was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selected</a:t>
            </a:r>
            <a:r>
              <a:rPr lang="it" sz="2000">
                <a:solidFill>
                  <a:schemeClr val="dk1"/>
                </a:solidFill>
              </a:rPr>
              <a:t> for the </a:t>
            </a:r>
            <a:r>
              <a:rPr lang="it" sz="2000" err="1">
                <a:solidFill>
                  <a:schemeClr val="dk1"/>
                </a:solidFill>
              </a:rPr>
              <a:t>All</a:t>
            </a:r>
            <a:r>
              <a:rPr lang="it" sz="2000">
                <a:solidFill>
                  <a:schemeClr val="dk1"/>
                </a:solidFill>
              </a:rPr>
              <a:t>-Star Game, </a:t>
            </a:r>
            <a:r>
              <a:rPr lang="it" sz="2000" err="1">
                <a:solidFill>
                  <a:schemeClr val="dk1"/>
                </a:solidFill>
              </a:rPr>
              <a:t>specifying</a:t>
            </a:r>
            <a:r>
              <a:rPr lang="it" sz="2000">
                <a:solidFill>
                  <a:schemeClr val="dk1"/>
                </a:solidFill>
              </a:rPr>
              <a:t>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derived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 err="1">
                <a:solidFill>
                  <a:schemeClr val="dk1"/>
                </a:solidFill>
              </a:rPr>
              <a:t>All</a:t>
            </a:r>
            <a:r>
              <a:rPr lang="it" sz="2000" i="1" u="sng">
                <a:solidFill>
                  <a:schemeClr val="dk1"/>
                </a:solidFill>
              </a:rPr>
              <a:t>-Star Selections.csv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list the </a:t>
            </a:r>
            <a:r>
              <a:rPr lang="it" sz="2000" err="1">
                <a:solidFill>
                  <a:schemeClr val="dk1"/>
                </a:solidFill>
              </a:rPr>
              <a:t>different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league</a:t>
            </a:r>
            <a:r>
              <a:rPr lang="it" sz="2000">
                <a:solidFill>
                  <a:schemeClr val="dk1"/>
                </a:solidFill>
              </a:rPr>
              <a:t> awards (e.g., MVP, Rookie of the </a:t>
            </a:r>
            <a:r>
              <a:rPr lang="it" sz="2000" err="1">
                <a:solidFill>
                  <a:schemeClr val="dk1"/>
                </a:solidFill>
              </a:rPr>
              <a:t>Year</a:t>
            </a:r>
            <a:r>
              <a:rPr lang="it" sz="2000">
                <a:solidFill>
                  <a:schemeClr val="dk1"/>
                </a:solidFill>
              </a:rPr>
              <a:t>). Data </a:t>
            </a:r>
            <a:r>
              <a:rPr lang="it" sz="2000" err="1">
                <a:solidFill>
                  <a:schemeClr val="dk1"/>
                </a:solidFill>
              </a:rPr>
              <a:t>could</a:t>
            </a:r>
            <a:r>
              <a:rPr lang="it" sz="2000">
                <a:solidFill>
                  <a:schemeClr val="dk1"/>
                </a:solidFill>
              </a:rPr>
              <a:t> be </a:t>
            </a:r>
            <a:r>
              <a:rPr lang="it" sz="2000" err="1">
                <a:solidFill>
                  <a:schemeClr val="dk1"/>
                </a:solidFill>
              </a:rPr>
              <a:t>extracted</a:t>
            </a:r>
            <a:r>
              <a:rPr lang="it" sz="2000">
                <a:solidFill>
                  <a:schemeClr val="dk1"/>
                </a:solidFill>
              </a:rPr>
              <a:t> from the </a:t>
            </a:r>
            <a:r>
              <a:rPr lang="it" sz="2000" i="1" u="sng">
                <a:solidFill>
                  <a:schemeClr val="dk1"/>
                </a:solidFill>
              </a:rPr>
              <a:t>Player Award Shares.csv</a:t>
            </a:r>
            <a:r>
              <a:rPr lang="it" sz="2000">
                <a:solidFill>
                  <a:schemeClr val="dk1"/>
                </a:solidFill>
              </a:rPr>
              <a:t> file.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 </a:t>
            </a:r>
            <a:r>
              <a:rPr lang="it" sz="2000" b="1" err="1">
                <a:solidFill>
                  <a:schemeClr val="dk1"/>
                </a:solidFill>
              </a:rPr>
              <a:t>Stats</a:t>
            </a:r>
            <a:r>
              <a:rPr lang="it" sz="2000">
                <a:solidFill>
                  <a:schemeClr val="dk1"/>
                </a:solidFill>
              </a:rPr>
              <a:t>: </a:t>
            </a:r>
            <a:r>
              <a:rPr lang="it" sz="2000" err="1">
                <a:solidFill>
                  <a:schemeClr val="dk1"/>
                </a:solidFill>
              </a:rPr>
              <a:t>This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is</a:t>
            </a:r>
            <a:r>
              <a:rPr lang="it" sz="2000">
                <a:solidFill>
                  <a:schemeClr val="dk1"/>
                </a:solidFill>
              </a:rPr>
              <a:t> an associative </a:t>
            </a:r>
            <a:r>
              <a:rPr lang="it" sz="2000" err="1">
                <a:solidFill>
                  <a:schemeClr val="dk1"/>
                </a:solidFill>
              </a:rPr>
              <a:t>table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that</a:t>
            </a:r>
            <a:r>
              <a:rPr lang="it" sz="2000">
                <a:solidFill>
                  <a:schemeClr val="dk1"/>
                </a:solidFill>
              </a:rPr>
              <a:t> links Players to Seasons. </a:t>
            </a:r>
            <a:r>
              <a:rPr lang="it" sz="2000" err="1">
                <a:solidFill>
                  <a:schemeClr val="dk1"/>
                </a:solidFill>
              </a:rPr>
              <a:t>It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contain</a:t>
            </a:r>
            <a:r>
              <a:rPr lang="it" sz="2000">
                <a:solidFill>
                  <a:schemeClr val="dk1"/>
                </a:solidFill>
              </a:rPr>
              <a:t> a </a:t>
            </a:r>
            <a:r>
              <a:rPr lang="it" sz="2000" err="1">
                <a:solidFill>
                  <a:schemeClr val="dk1"/>
                </a:solidFill>
              </a:rPr>
              <a:t>player's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detailed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statistics</a:t>
            </a:r>
            <a:r>
              <a:rPr lang="it" sz="2000">
                <a:solidFill>
                  <a:schemeClr val="dk1"/>
                </a:solidFill>
              </a:rPr>
              <a:t> for a </a:t>
            </a:r>
            <a:r>
              <a:rPr lang="it" sz="2000" err="1">
                <a:solidFill>
                  <a:schemeClr val="dk1"/>
                </a:solidFill>
              </a:rPr>
              <a:t>given</a:t>
            </a:r>
            <a:r>
              <a:rPr lang="it" sz="2000">
                <a:solidFill>
                  <a:schemeClr val="dk1"/>
                </a:solidFill>
              </a:rPr>
              <a:t> season, </a:t>
            </a:r>
            <a:r>
              <a:rPr lang="it" sz="2000" err="1">
                <a:solidFill>
                  <a:schemeClr val="dk1"/>
                </a:solidFill>
              </a:rPr>
              <a:t>such</a:t>
            </a:r>
            <a:r>
              <a:rPr lang="it" sz="2000">
                <a:solidFill>
                  <a:schemeClr val="dk1"/>
                </a:solidFill>
              </a:rPr>
              <a:t> </a:t>
            </a:r>
            <a:r>
              <a:rPr lang="it" sz="2000" err="1">
                <a:solidFill>
                  <a:schemeClr val="dk1"/>
                </a:solidFill>
              </a:rPr>
              <a:t>as</a:t>
            </a:r>
            <a:r>
              <a:rPr lang="it" sz="2000">
                <a:solidFill>
                  <a:schemeClr val="dk1"/>
                </a:solidFill>
              </a:rPr>
              <a:t> points, rebounds, and assists. Information </a:t>
            </a:r>
            <a:r>
              <a:rPr lang="it" sz="2000" err="1">
                <a:solidFill>
                  <a:schemeClr val="dk1"/>
                </a:solidFill>
              </a:rPr>
              <a:t>would</a:t>
            </a:r>
            <a:r>
              <a:rPr lang="it" sz="2000">
                <a:solidFill>
                  <a:schemeClr val="dk1"/>
                </a:solidFill>
              </a:rPr>
              <a:t> come from files like Player Per Game.csv or Player Totals.csv.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2826300" y="137844"/>
            <a:ext cx="306991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diagram</a:t>
            </a:r>
            <a:endParaRPr/>
          </a:p>
        </p:txBody>
      </p:sp>
      <p:pic>
        <p:nvPicPr>
          <p:cNvPr id="4" name="Picture 3" descr="A diagram of a sports team&#10;&#10;AI-generated content may be incorrect.">
            <a:extLst>
              <a:ext uri="{FF2B5EF4-FFF2-40B4-BE49-F238E27FC236}">
                <a16:creationId xmlns:a16="http://schemas.microsoft.com/office/drawing/2014/main" id="{DA1690A2-F495-4B61-E752-506A82913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462" y="929466"/>
            <a:ext cx="7198283" cy="3476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676281" y="159275"/>
            <a:ext cx="314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711750" y="95959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Player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PlayerName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BornDate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Height</a:t>
            </a:r>
            <a:r>
              <a:rPr lang="it" sz="2000">
                <a:solidFill>
                  <a:schemeClr val="dk1"/>
                </a:solidFill>
              </a:rPr>
              <a:t>, Weight) </a:t>
            </a:r>
            <a:endParaRPr lang="en-US"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Team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TeamName</a:t>
            </a:r>
            <a:r>
              <a:rPr lang="it" sz="2000">
                <a:solidFill>
                  <a:schemeClr val="dk1"/>
                </a:solidFill>
              </a:rPr>
              <a:t>, City, </a:t>
            </a:r>
            <a:r>
              <a:rPr lang="it" sz="2000" err="1">
                <a:solidFill>
                  <a:schemeClr val="dk1"/>
                </a:solidFill>
              </a:rPr>
              <a:t>ArenaName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YearStart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YearEnd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>
                <a:solidFill>
                  <a:schemeClr val="dk1"/>
                </a:solidFill>
              </a:rPr>
              <a:t>Game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GameDate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Attendance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HomeTeamID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PlayerTeamSeason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StartDate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EndDate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SeasonID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Draft_Pick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DraftPickID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OverallPick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DraftYear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SeasonID</a:t>
            </a:r>
            <a:r>
              <a:rPr lang="it" sz="2000" err="1">
                <a:solidFill>
                  <a:schemeClr val="dk1"/>
                </a:solidFill>
              </a:rPr>
              <a:t>→Season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2862019" y="152131"/>
            <a:ext cx="342710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E/R -&gt; relations 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533156" y="103103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All_Star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AllStarID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SelectionYear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SelectionType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→Player) </a:t>
            </a:r>
            <a:endParaRPr lang="en-US"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>
                <a:solidFill>
                  <a:schemeClr val="dk1"/>
                </a:solidFill>
              </a:rPr>
              <a:t>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AwardName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indent="-304800">
              <a:buClr>
                <a:schemeClr val="dk1"/>
              </a:buClr>
              <a:buSzPts val="1200"/>
            </a:pPr>
            <a:r>
              <a:rPr lang="it" sz="2000" b="1" err="1">
                <a:solidFill>
                  <a:schemeClr val="dk1"/>
                </a:solidFill>
              </a:rPr>
              <a:t>Player_Award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AwardID</a:t>
            </a:r>
            <a:r>
              <a:rPr lang="it" sz="2000" err="1">
                <a:solidFill>
                  <a:schemeClr val="dk1"/>
                </a:solidFill>
              </a:rPr>
              <a:t>→Award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PK = (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AwardYear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PlayerGameStats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PlayerID</a:t>
            </a:r>
            <a:r>
              <a:rPr lang="it" sz="2000" err="1">
                <a:solidFill>
                  <a:schemeClr val="dk1"/>
                </a:solidFill>
              </a:rPr>
              <a:t>→Player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PlayerID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6858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it" sz="2000" b="1" err="1">
                <a:solidFill>
                  <a:schemeClr val="dk1"/>
                </a:solidFill>
              </a:rPr>
              <a:t>TeamGameStats</a:t>
            </a:r>
            <a:r>
              <a:rPr lang="it" sz="2000">
                <a:solidFill>
                  <a:schemeClr val="dk1"/>
                </a:solidFill>
              </a:rPr>
              <a:t>(</a:t>
            </a:r>
            <a:r>
              <a:rPr lang="it" sz="2000" b="1" err="1">
                <a:solidFill>
                  <a:schemeClr val="dk1"/>
                </a:solidFill>
              </a:rPr>
              <a:t>StatsID</a:t>
            </a:r>
            <a:r>
              <a:rPr lang="it" sz="2000">
                <a:solidFill>
                  <a:schemeClr val="dk1"/>
                </a:solidFill>
              </a:rPr>
              <a:t>, Points, Rebounds, Assists, </a:t>
            </a:r>
            <a:r>
              <a:rPr lang="it" sz="2000" err="1">
                <a:solidFill>
                  <a:schemeClr val="dk1"/>
                </a:solidFill>
              </a:rPr>
              <a:t>Steals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Blocks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GameID</a:t>
            </a:r>
            <a:r>
              <a:rPr lang="it" sz="2000" err="1">
                <a:solidFill>
                  <a:schemeClr val="dk1"/>
                </a:solidFill>
              </a:rPr>
              <a:t>→Game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b="1" err="1">
                <a:solidFill>
                  <a:schemeClr val="dk1"/>
                </a:solidFill>
              </a:rPr>
              <a:t>TeamID</a:t>
            </a:r>
            <a:r>
              <a:rPr lang="it" sz="2000" err="1">
                <a:solidFill>
                  <a:schemeClr val="dk1"/>
                </a:solidFill>
              </a:rPr>
              <a:t>→Team</a:t>
            </a:r>
            <a:r>
              <a:rPr lang="it" sz="2000">
                <a:solidFill>
                  <a:schemeClr val="dk1"/>
                </a:solidFill>
              </a:rPr>
              <a:t>) </a:t>
            </a:r>
            <a:br>
              <a:rPr lang="it" sz="2000"/>
            </a:br>
            <a:r>
              <a:rPr lang="it" sz="2000">
                <a:solidFill>
                  <a:schemeClr val="dk1"/>
                </a:solidFill>
              </a:rPr>
              <a:t> UNIQUE(</a:t>
            </a:r>
            <a:r>
              <a:rPr lang="it" sz="2000" err="1">
                <a:solidFill>
                  <a:schemeClr val="dk1"/>
                </a:solidFill>
              </a:rPr>
              <a:t>GameID</a:t>
            </a:r>
            <a:r>
              <a:rPr lang="it" sz="2000">
                <a:solidFill>
                  <a:schemeClr val="dk1"/>
                </a:solidFill>
              </a:rPr>
              <a:t>, </a:t>
            </a:r>
            <a:r>
              <a:rPr lang="it" sz="2000" err="1">
                <a:solidFill>
                  <a:schemeClr val="dk1"/>
                </a:solidFill>
              </a:rPr>
              <a:t>TeamID</a:t>
            </a:r>
            <a:r>
              <a:rPr lang="it" sz="2000">
                <a:solidFill>
                  <a:schemeClr val="dk1"/>
                </a:solidFill>
              </a:rPr>
              <a:t>) 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Parallax</vt:lpstr>
      <vt:lpstr>NBA Stats</vt:lpstr>
      <vt:lpstr>Use Case</vt:lpstr>
      <vt:lpstr>UML Diagram</vt:lpstr>
      <vt:lpstr>Use Case</vt:lpstr>
      <vt:lpstr>UML Diagram</vt:lpstr>
      <vt:lpstr>Entities</vt:lpstr>
      <vt:lpstr>Entities</vt:lpstr>
      <vt:lpstr>E/R diagram</vt:lpstr>
      <vt:lpstr>E/R -&gt; relations </vt:lpstr>
      <vt:lpstr>E/R -&gt; relations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terms:modified xsi:type="dcterms:W3CDTF">2025-10-24T00:27:42Z</dcterms:modified>
</cp:coreProperties>
</file>