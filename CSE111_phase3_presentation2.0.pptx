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4"/>
  </p:sldMasterIdLst>
  <p:notesMasterIdLst>
    <p:notesMasterId r:id="rId24"/>
  </p:notesMasterIdLst>
  <p:sldIdLst>
    <p:sldId id="256" r:id="rId5"/>
    <p:sldId id="276" r:id="rId6"/>
    <p:sldId id="267" r:id="rId7"/>
    <p:sldId id="268" r:id="rId8"/>
    <p:sldId id="269" r:id="rId9"/>
    <p:sldId id="270" r:id="rId10"/>
    <p:sldId id="271" r:id="rId11"/>
    <p:sldId id="262" r:id="rId12"/>
    <p:sldId id="272" r:id="rId13"/>
    <p:sldId id="273" r:id="rId14"/>
    <p:sldId id="275" r:id="rId15"/>
    <p:sldId id="257" r:id="rId16"/>
    <p:sldId id="265" r:id="rId17"/>
    <p:sldId id="258" r:id="rId18"/>
    <p:sldId id="259" r:id="rId19"/>
    <p:sldId id="260" r:id="rId20"/>
    <p:sldId id="261" r:id="rId21"/>
    <p:sldId id="263" r:id="rId22"/>
    <p:sldId id="264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614297-DB5A-40DA-8067-36FF814E3E22}" v="211" dt="2025-12-11T02:24:59.6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318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2247C09-B6A3-426A-A331-75DD133193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F287EC-A7C5-484C-A106-278248087ED2}">
      <dgm:prSet/>
      <dgm:spPr>
        <a:solidFill>
          <a:schemeClr val="bg2"/>
        </a:solidFill>
      </dgm:spPr>
      <dgm:t>
        <a:bodyPr/>
        <a:lstStyle/>
        <a:p>
          <a:r>
            <a:rPr lang="en-US" b="1" dirty="0"/>
            <a:t>Platform:</a:t>
          </a:r>
          <a:r>
            <a:rPr lang="en-US" dirty="0"/>
            <a:t> Python Application with Command-Line Interface (CLI)</a:t>
          </a:r>
        </a:p>
      </dgm:t>
    </dgm:pt>
    <dgm:pt modelId="{4741B874-5CDC-474B-8EA4-D2489E52329C}" type="parTrans" cxnId="{88B1685D-DF32-4CD6-BB0F-FC8E6A3D1ED1}">
      <dgm:prSet/>
      <dgm:spPr/>
      <dgm:t>
        <a:bodyPr/>
        <a:lstStyle/>
        <a:p>
          <a:endParaRPr lang="en-US"/>
        </a:p>
      </dgm:t>
    </dgm:pt>
    <dgm:pt modelId="{3288D61E-0A64-410E-8B61-9D33C9436422}" type="sibTrans" cxnId="{88B1685D-DF32-4CD6-BB0F-FC8E6A3D1ED1}">
      <dgm:prSet/>
      <dgm:spPr/>
      <dgm:t>
        <a:bodyPr/>
        <a:lstStyle/>
        <a:p>
          <a:endParaRPr lang="en-US"/>
        </a:p>
      </dgm:t>
    </dgm:pt>
    <dgm:pt modelId="{F78236CF-6C66-4690-9B4F-A159528E56CD}">
      <dgm:prSet/>
      <dgm:spPr>
        <a:solidFill>
          <a:schemeClr val="bg2"/>
        </a:solidFill>
      </dgm:spPr>
      <dgm:t>
        <a:bodyPr/>
        <a:lstStyle/>
        <a:p>
          <a:r>
            <a:rPr lang="en-US" b="1" dirty="0"/>
            <a:t>Data:</a:t>
          </a:r>
          <a:r>
            <a:rPr lang="en-US" dirty="0"/>
            <a:t> Multi-table SQLite DB populated from CSV files</a:t>
          </a:r>
        </a:p>
      </dgm:t>
    </dgm:pt>
    <dgm:pt modelId="{94226534-0741-4F92-B598-B45C4F812EDC}" type="parTrans" cxnId="{4983C391-7AEC-4188-B901-B9A2964781D6}">
      <dgm:prSet/>
      <dgm:spPr/>
      <dgm:t>
        <a:bodyPr/>
        <a:lstStyle/>
        <a:p>
          <a:endParaRPr lang="en-US"/>
        </a:p>
      </dgm:t>
    </dgm:pt>
    <dgm:pt modelId="{0F529FC0-C0CB-4541-B316-A05C618F5814}" type="sibTrans" cxnId="{4983C391-7AEC-4188-B901-B9A2964781D6}">
      <dgm:prSet/>
      <dgm:spPr/>
      <dgm:t>
        <a:bodyPr/>
        <a:lstStyle/>
        <a:p>
          <a:endParaRPr lang="en-US"/>
        </a:p>
      </dgm:t>
    </dgm:pt>
    <dgm:pt modelId="{9BFA7E0F-7AB1-4165-80A0-1DFB28B847C0}">
      <dgm:prSet/>
      <dgm:spPr>
        <a:solidFill>
          <a:schemeClr val="bg2"/>
        </a:solidFill>
      </dgm:spPr>
      <dgm:t>
        <a:bodyPr/>
        <a:lstStyle/>
        <a:p>
          <a:r>
            <a:rPr lang="en-US" b="1" dirty="0"/>
            <a:t>Goal: </a:t>
          </a:r>
          <a:r>
            <a:rPr lang="en-US" dirty="0"/>
            <a:t>Interactive querying and Admin-level data updates(e.g., Trades, stats, etc.) </a:t>
          </a:r>
        </a:p>
      </dgm:t>
    </dgm:pt>
    <dgm:pt modelId="{2CCEC582-75E9-47E0-999F-3F6127B14DED}" type="parTrans" cxnId="{BCD1E5D7-0598-4A50-BFCF-FFFB26364647}">
      <dgm:prSet/>
      <dgm:spPr/>
      <dgm:t>
        <a:bodyPr/>
        <a:lstStyle/>
        <a:p>
          <a:endParaRPr lang="en-US"/>
        </a:p>
      </dgm:t>
    </dgm:pt>
    <dgm:pt modelId="{A0740B92-1CFF-4696-9F0E-0A8BF061F667}" type="sibTrans" cxnId="{BCD1E5D7-0598-4A50-BFCF-FFFB26364647}">
      <dgm:prSet/>
      <dgm:spPr/>
      <dgm:t>
        <a:bodyPr/>
        <a:lstStyle/>
        <a:p>
          <a:endParaRPr lang="en-US"/>
        </a:p>
      </dgm:t>
    </dgm:pt>
    <dgm:pt modelId="{DB86AC18-5C89-41A7-933E-3743B85D2EE7}" type="pres">
      <dgm:prSet presAssocID="{52247C09-B6A3-426A-A331-75DD1331931B}" presName="linear" presStyleCnt="0">
        <dgm:presLayoutVars>
          <dgm:animLvl val="lvl"/>
          <dgm:resizeHandles val="exact"/>
        </dgm:presLayoutVars>
      </dgm:prSet>
      <dgm:spPr/>
    </dgm:pt>
    <dgm:pt modelId="{2FC1D2C7-E685-4D2F-ACA0-6E0FF34D45E0}" type="pres">
      <dgm:prSet presAssocID="{2DF287EC-A7C5-484C-A106-278248087ED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262F128-2A65-434F-96C9-8D2D97061C4C}" type="pres">
      <dgm:prSet presAssocID="{3288D61E-0A64-410E-8B61-9D33C9436422}" presName="spacer" presStyleCnt="0"/>
      <dgm:spPr/>
    </dgm:pt>
    <dgm:pt modelId="{59D91E17-018A-441C-BF99-43CBB3EEC57D}" type="pres">
      <dgm:prSet presAssocID="{F78236CF-6C66-4690-9B4F-A159528E56C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27085AA-F04B-4A6E-AC5A-A1A0436EEDA1}" type="pres">
      <dgm:prSet presAssocID="{0F529FC0-C0CB-4541-B316-A05C618F5814}" presName="spacer" presStyleCnt="0"/>
      <dgm:spPr/>
    </dgm:pt>
    <dgm:pt modelId="{CFFE666E-976E-4016-9A7D-29F8E6BFE4C2}" type="pres">
      <dgm:prSet presAssocID="{9BFA7E0F-7AB1-4165-80A0-1DFB28B847C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96F3628-725A-4DFD-8615-A85530116FDD}" type="presOf" srcId="{2DF287EC-A7C5-484C-A106-278248087ED2}" destId="{2FC1D2C7-E685-4D2F-ACA0-6E0FF34D45E0}" srcOrd="0" destOrd="0" presId="urn:microsoft.com/office/officeart/2005/8/layout/vList2"/>
    <dgm:cxn modelId="{88B1685D-DF32-4CD6-BB0F-FC8E6A3D1ED1}" srcId="{52247C09-B6A3-426A-A331-75DD1331931B}" destId="{2DF287EC-A7C5-484C-A106-278248087ED2}" srcOrd="0" destOrd="0" parTransId="{4741B874-5CDC-474B-8EA4-D2489E52329C}" sibTransId="{3288D61E-0A64-410E-8B61-9D33C9436422}"/>
    <dgm:cxn modelId="{01859567-ABAA-45F8-B479-EF3E02A6598F}" type="presOf" srcId="{52247C09-B6A3-426A-A331-75DD1331931B}" destId="{DB86AC18-5C89-41A7-933E-3743B85D2EE7}" srcOrd="0" destOrd="0" presId="urn:microsoft.com/office/officeart/2005/8/layout/vList2"/>
    <dgm:cxn modelId="{4983C391-7AEC-4188-B901-B9A2964781D6}" srcId="{52247C09-B6A3-426A-A331-75DD1331931B}" destId="{F78236CF-6C66-4690-9B4F-A159528E56CD}" srcOrd="1" destOrd="0" parTransId="{94226534-0741-4F92-B598-B45C4F812EDC}" sibTransId="{0F529FC0-C0CB-4541-B316-A05C618F5814}"/>
    <dgm:cxn modelId="{56EEADC2-B65B-4261-9854-EB5FD0293B5B}" type="presOf" srcId="{F78236CF-6C66-4690-9B4F-A159528E56CD}" destId="{59D91E17-018A-441C-BF99-43CBB3EEC57D}" srcOrd="0" destOrd="0" presId="urn:microsoft.com/office/officeart/2005/8/layout/vList2"/>
    <dgm:cxn modelId="{BCD1E5D7-0598-4A50-BFCF-FFFB26364647}" srcId="{52247C09-B6A3-426A-A331-75DD1331931B}" destId="{9BFA7E0F-7AB1-4165-80A0-1DFB28B847C0}" srcOrd="2" destOrd="0" parTransId="{2CCEC582-75E9-47E0-999F-3F6127B14DED}" sibTransId="{A0740B92-1CFF-4696-9F0E-0A8BF061F667}"/>
    <dgm:cxn modelId="{B6B0ABDF-61B3-4BD8-A1FA-5A927A531592}" type="presOf" srcId="{9BFA7E0F-7AB1-4165-80A0-1DFB28B847C0}" destId="{CFFE666E-976E-4016-9A7D-29F8E6BFE4C2}" srcOrd="0" destOrd="0" presId="urn:microsoft.com/office/officeart/2005/8/layout/vList2"/>
    <dgm:cxn modelId="{9590B5D5-F8AF-445C-8846-CB2BAF0B8457}" type="presParOf" srcId="{DB86AC18-5C89-41A7-933E-3743B85D2EE7}" destId="{2FC1D2C7-E685-4D2F-ACA0-6E0FF34D45E0}" srcOrd="0" destOrd="0" presId="urn:microsoft.com/office/officeart/2005/8/layout/vList2"/>
    <dgm:cxn modelId="{B6431DC8-66A2-42CE-A931-7EA54F1ABC0E}" type="presParOf" srcId="{DB86AC18-5C89-41A7-933E-3743B85D2EE7}" destId="{9262F128-2A65-434F-96C9-8D2D97061C4C}" srcOrd="1" destOrd="0" presId="urn:microsoft.com/office/officeart/2005/8/layout/vList2"/>
    <dgm:cxn modelId="{F377F767-E221-4DA7-BA5D-5B5478001A1C}" type="presParOf" srcId="{DB86AC18-5C89-41A7-933E-3743B85D2EE7}" destId="{59D91E17-018A-441C-BF99-43CBB3EEC57D}" srcOrd="2" destOrd="0" presId="urn:microsoft.com/office/officeart/2005/8/layout/vList2"/>
    <dgm:cxn modelId="{554E8473-5DC5-4006-8834-9A88E669C5D7}" type="presParOf" srcId="{DB86AC18-5C89-41A7-933E-3743B85D2EE7}" destId="{927085AA-F04B-4A6E-AC5A-A1A0436EEDA1}" srcOrd="3" destOrd="0" presId="urn:microsoft.com/office/officeart/2005/8/layout/vList2"/>
    <dgm:cxn modelId="{9ABE3343-F340-44EE-98FB-42643865604B}" type="presParOf" srcId="{DB86AC18-5C89-41A7-933E-3743B85D2EE7}" destId="{CFFE666E-976E-4016-9A7D-29F8E6BFE4C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C1D2C7-E685-4D2F-ACA0-6E0FF34D45E0}">
      <dsp:nvSpPr>
        <dsp:cNvPr id="0" name=""/>
        <dsp:cNvSpPr/>
      </dsp:nvSpPr>
      <dsp:spPr>
        <a:xfrm>
          <a:off x="0" y="519750"/>
          <a:ext cx="4459917" cy="755820"/>
        </a:xfrm>
        <a:prstGeom prst="roundRect">
          <a:avLst/>
        </a:prstGeom>
        <a:solidFill>
          <a:schemeClr val="bg2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Platform:</a:t>
          </a:r>
          <a:r>
            <a:rPr lang="en-US" sz="1900" kern="1200" dirty="0"/>
            <a:t> Python Application with Command-Line Interface (CLI)</a:t>
          </a:r>
        </a:p>
      </dsp:txBody>
      <dsp:txXfrm>
        <a:off x="36896" y="556646"/>
        <a:ext cx="4386125" cy="682028"/>
      </dsp:txXfrm>
    </dsp:sp>
    <dsp:sp modelId="{59D91E17-018A-441C-BF99-43CBB3EEC57D}">
      <dsp:nvSpPr>
        <dsp:cNvPr id="0" name=""/>
        <dsp:cNvSpPr/>
      </dsp:nvSpPr>
      <dsp:spPr>
        <a:xfrm>
          <a:off x="0" y="1330290"/>
          <a:ext cx="4459917" cy="755820"/>
        </a:xfrm>
        <a:prstGeom prst="roundRect">
          <a:avLst/>
        </a:prstGeom>
        <a:solidFill>
          <a:schemeClr val="bg2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Data:</a:t>
          </a:r>
          <a:r>
            <a:rPr lang="en-US" sz="1900" kern="1200" dirty="0"/>
            <a:t> Multi-table SQLite DB populated from CSV files</a:t>
          </a:r>
        </a:p>
      </dsp:txBody>
      <dsp:txXfrm>
        <a:off x="36896" y="1367186"/>
        <a:ext cx="4386125" cy="682028"/>
      </dsp:txXfrm>
    </dsp:sp>
    <dsp:sp modelId="{CFFE666E-976E-4016-9A7D-29F8E6BFE4C2}">
      <dsp:nvSpPr>
        <dsp:cNvPr id="0" name=""/>
        <dsp:cNvSpPr/>
      </dsp:nvSpPr>
      <dsp:spPr>
        <a:xfrm>
          <a:off x="0" y="2140830"/>
          <a:ext cx="4459917" cy="755820"/>
        </a:xfrm>
        <a:prstGeom prst="roundRect">
          <a:avLst/>
        </a:prstGeom>
        <a:solidFill>
          <a:schemeClr val="bg2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Goal: </a:t>
          </a:r>
          <a:r>
            <a:rPr lang="en-US" sz="1900" kern="1200" dirty="0"/>
            <a:t>Interactive querying and Admin-level data updates(e.g., Trades, stats, etc.) </a:t>
          </a:r>
        </a:p>
      </dsp:txBody>
      <dsp:txXfrm>
        <a:off x="36896" y="2177726"/>
        <a:ext cx="4386125" cy="6820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c4666d444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c4666d444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c4666d44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c4666d44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EC05B3A-CF6D-F630-425D-7316B64A0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c4666d444_0_10:notes">
            <a:extLst>
              <a:ext uri="{FF2B5EF4-FFF2-40B4-BE49-F238E27FC236}">
                <a16:creationId xmlns:a16="http://schemas.microsoft.com/office/drawing/2014/main" id="{86F10142-8EF7-60C2-F3A6-B5BCE0BC4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c4666d444_0_10:notes">
            <a:extLst>
              <a:ext uri="{FF2B5EF4-FFF2-40B4-BE49-F238E27FC236}">
                <a16:creationId xmlns:a16="http://schemas.microsoft.com/office/drawing/2014/main" id="{328E4340-2871-88DD-1448-C6A4C67979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6224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c4666d44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c4666d44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c4666d44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c4666d44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c4666d44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c4666d44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c4666d444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c4666d444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c4666d444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c4666d444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c4666d44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c4666d44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09575" y="-3572"/>
            <a:ext cx="3761184" cy="5147072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301" y="1035052"/>
            <a:ext cx="6430967" cy="1962149"/>
          </a:xfrm>
        </p:spPr>
        <p:txBody>
          <a:bodyPr anchor="b">
            <a:normAutofit/>
          </a:bodyPr>
          <a:lstStyle>
            <a:lvl1pPr algn="r">
              <a:defRPr sz="10667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6533" y="2997200"/>
            <a:ext cx="5240734" cy="1041401"/>
          </a:xfrm>
        </p:spPr>
        <p:txBody>
          <a:bodyPr anchor="t">
            <a:normAutofit/>
          </a:bodyPr>
          <a:lstStyle>
            <a:lvl1pPr marL="0" indent="0" algn="r">
              <a:buNone/>
              <a:defRPr sz="3733">
                <a:solidFill>
                  <a:schemeClr val="tx1"/>
                </a:solidFill>
              </a:defRPr>
            </a:lvl1pPr>
            <a:lvl2pPr marL="812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99309" y="4412457"/>
            <a:ext cx="3243033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33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13893" y="4400349"/>
            <a:ext cx="41337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72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210" y="2000249"/>
            <a:ext cx="6698060" cy="1582787"/>
          </a:xfrm>
        </p:spPr>
        <p:txBody>
          <a:bodyPr anchor="b"/>
          <a:lstStyle>
            <a:lvl1pPr algn="r">
              <a:defRPr sz="7111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9209" y="3583036"/>
            <a:ext cx="669806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75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35" y="2000250"/>
            <a:ext cx="3671291" cy="2343151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5975" y="2000250"/>
            <a:ext cx="3671292" cy="2343150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66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134" y="1993900"/>
            <a:ext cx="3455391" cy="432197"/>
          </a:xfrm>
        </p:spPr>
        <p:txBody>
          <a:bodyPr anchor="b">
            <a:noAutofit/>
          </a:bodyPr>
          <a:lstStyle>
            <a:lvl1pPr marL="0" indent="0">
              <a:buNone/>
              <a:defRPr sz="4978" b="0">
                <a:solidFill>
                  <a:schemeClr val="accent1">
                    <a:lumMod val="75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233" y="2501503"/>
            <a:ext cx="3671292" cy="1841897"/>
          </a:xfr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366" y="2000250"/>
            <a:ext cx="3466903" cy="432197"/>
          </a:xfrm>
        </p:spPr>
        <p:txBody>
          <a:bodyPr anchor="b">
            <a:noAutofit/>
          </a:bodyPr>
          <a:lstStyle>
            <a:lvl1pPr marL="0" indent="0">
              <a:buNone/>
              <a:defRPr sz="4978" b="0">
                <a:solidFill>
                  <a:schemeClr val="accent1">
                    <a:lumMod val="75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5975" y="2501503"/>
            <a:ext cx="3671292" cy="1841897"/>
          </a:xfr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02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022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18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00150"/>
            <a:ext cx="2661841" cy="1028700"/>
          </a:xfrm>
        </p:spPr>
        <p:txBody>
          <a:bodyPr anchor="b">
            <a:normAutofit/>
          </a:bodyPr>
          <a:lstStyle>
            <a:lvl1pPr algn="ctr">
              <a:defRPr sz="4267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525" y="514350"/>
            <a:ext cx="4680743" cy="3829051"/>
          </a:xfrm>
        </p:spPr>
        <p:txBody>
          <a:bodyPr anchor="ctr">
            <a:normAutofit/>
          </a:bodyPr>
          <a:lstStyle>
            <a:lvl1pPr>
              <a:defRPr sz="3556"/>
            </a:lvl1pPr>
            <a:lvl2pPr>
              <a:defRPr sz="3200"/>
            </a:lvl2pPr>
            <a:lvl3pPr>
              <a:defRPr sz="2844"/>
            </a:lvl3pPr>
            <a:lvl4pPr>
              <a:defRPr sz="2489"/>
            </a:lvl4pPr>
            <a:lvl5pPr>
              <a:defRPr sz="2489"/>
            </a:lvl5pPr>
            <a:lvl6pPr>
              <a:defRPr sz="2489"/>
            </a:lvl6pPr>
            <a:lvl7pPr>
              <a:defRPr sz="2489"/>
            </a:lvl7pPr>
            <a:lvl8pPr>
              <a:defRPr sz="2489"/>
            </a:lvl8pPr>
            <a:lvl9pPr>
              <a:defRPr sz="24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2228850"/>
            <a:ext cx="2661841" cy="1371600"/>
          </a:xfrm>
        </p:spPr>
        <p:txBody>
          <a:bodyPr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094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3" y="1314449"/>
            <a:ext cx="4069619" cy="1028700"/>
          </a:xfrm>
        </p:spPr>
        <p:txBody>
          <a:bodyPr anchor="b">
            <a:normAutofit/>
          </a:bodyPr>
          <a:lstStyle>
            <a:lvl1pPr algn="ctr">
              <a:defRPr sz="4978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6011" y="685800"/>
            <a:ext cx="2460731" cy="3429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043" y="2343149"/>
            <a:ext cx="4069619" cy="1371600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90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3549649"/>
            <a:ext cx="7514033" cy="425054"/>
          </a:xfrm>
        </p:spPr>
        <p:txBody>
          <a:bodyPr anchor="b">
            <a:normAutofit/>
          </a:bodyPr>
          <a:lstStyle>
            <a:lvl1pPr algn="ctr">
              <a:defRPr sz="4267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5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3974702"/>
            <a:ext cx="7514033" cy="370284"/>
          </a:xfrm>
        </p:spPr>
        <p:txBody>
          <a:bodyPr>
            <a:normAutofit/>
          </a:bodyPr>
          <a:lstStyle>
            <a:lvl1pPr marL="0" indent="0" algn="ctr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69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3" cy="2286000"/>
          </a:xfrm>
        </p:spPr>
        <p:txBody>
          <a:bodyPr anchor="ctr">
            <a:normAutofit/>
          </a:bodyPr>
          <a:lstStyle>
            <a:lvl1pPr algn="ctr">
              <a:defRPr sz="5689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33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4222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4222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568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27609" y="2571749"/>
            <a:ext cx="6399611" cy="28575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3200"/>
            </a:lvl1pPr>
            <a:lvl2pPr marL="812810" indent="0">
              <a:buFontTx/>
              <a:buNone/>
              <a:defRPr/>
            </a:lvl2pPr>
            <a:lvl3pPr marL="1625620" indent="0">
              <a:buFontTx/>
              <a:buNone/>
              <a:defRPr/>
            </a:lvl3pPr>
            <a:lvl4pPr marL="2438430" indent="0">
              <a:buFontTx/>
              <a:buNone/>
              <a:defRPr/>
            </a:lvl4pPr>
            <a:lvl5pPr marL="325124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3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50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2481436"/>
            <a:ext cx="7514032" cy="1101600"/>
          </a:xfrm>
        </p:spPr>
        <p:txBody>
          <a:bodyPr anchor="b">
            <a:normAutofit/>
          </a:bodyPr>
          <a:lstStyle>
            <a:lvl1pPr algn="r">
              <a:defRPr sz="5689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3036"/>
            <a:ext cx="7514033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9589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4222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4222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568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5" y="2914650"/>
            <a:ext cx="7514033" cy="66675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4267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1400"/>
            <a:ext cx="7514033" cy="762000"/>
          </a:xfrm>
        </p:spPr>
        <p:txBody>
          <a:bodyPr anchor="t">
            <a:normAutofit/>
          </a:bodyPr>
          <a:lstStyle>
            <a:lvl1pPr marL="0" indent="0" algn="r">
              <a:buNone/>
              <a:defRPr sz="3200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5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4" cy="204549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4" y="2628900"/>
            <a:ext cx="7514035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978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5754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55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9492" y="514350"/>
            <a:ext cx="1327777" cy="382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4" y="514350"/>
            <a:ext cx="6014807" cy="38290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487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753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3109" y="0"/>
            <a:ext cx="1827610" cy="51435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3" y="2000250"/>
            <a:ext cx="7514035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9492" y="4412457"/>
            <a:ext cx="8572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9210" y="4412457"/>
            <a:ext cx="531313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8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13893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64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31139" y="1104899"/>
            <a:ext cx="8481722" cy="196214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r>
              <a:rPr lang="en-US" sz="10650" dirty="0"/>
              <a:t>NBA Stats App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100658" y="2997200"/>
            <a:ext cx="6526609" cy="10414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r>
              <a:rPr lang="en-US" sz="3700"/>
              <a:t>Yiannis Karydis  | Nicola </a:t>
            </a:r>
            <a:r>
              <a:rPr lang="en-US" sz="3700" err="1"/>
              <a:t>Cisbani</a:t>
            </a:r>
            <a:r>
              <a:rPr lang="en-US" sz="3700"/>
              <a:t> | Joshua Lee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D2E5F-4289-C451-07E8-4EC076E47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5374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System Description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FA2940-D266-D6F0-EA4A-8D8DF750F21D}"/>
              </a:ext>
            </a:extLst>
          </p:cNvPr>
          <p:cNvGraphicFramePr>
            <a:graphicFrameLocks noGrp="1"/>
          </p:cNvGraphicFramePr>
          <p:nvPr/>
        </p:nvGraphicFramePr>
        <p:xfrm>
          <a:off x="915030" y="3654475"/>
          <a:ext cx="7513636" cy="914400"/>
        </p:xfrm>
        <a:graphic>
          <a:graphicData uri="http://schemas.openxmlformats.org/drawingml/2006/table">
            <a:tbl>
              <a:tblPr/>
              <a:tblGrid>
                <a:gridCol w="3756818">
                  <a:extLst>
                    <a:ext uri="{9D8B030D-6E8A-4147-A177-3AD203B41FA5}">
                      <a16:colId xmlns:a16="http://schemas.microsoft.com/office/drawing/2014/main" val="1182737272"/>
                    </a:ext>
                  </a:extLst>
                </a:gridCol>
                <a:gridCol w="3756818">
                  <a:extLst>
                    <a:ext uri="{9D8B030D-6E8A-4147-A177-3AD203B41FA5}">
                      <a16:colId xmlns:a16="http://schemas.microsoft.com/office/drawing/2014/main" val="112975514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2657366"/>
                  </a:ext>
                </a:extLst>
              </a:tr>
            </a:tbl>
          </a:graphicData>
        </a:graphic>
      </p:graphicFrame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5C128EB-D08C-9F80-A0FE-59B112D72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851" y="1020305"/>
            <a:ext cx="2985449" cy="3717775"/>
          </a:xfrm>
          <a:prstGeom prst="rect">
            <a:avLst/>
          </a:prstGeom>
        </p:spPr>
      </p:pic>
      <p:graphicFrame>
        <p:nvGraphicFramePr>
          <p:cNvPr id="8" name="Text Placeholder 2">
            <a:extLst>
              <a:ext uri="{FF2B5EF4-FFF2-40B4-BE49-F238E27FC236}">
                <a16:creationId xmlns:a16="http://schemas.microsoft.com/office/drawing/2014/main" id="{E59BC9FF-7F0D-EBAE-05D1-7E6954A00D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3907716"/>
              </p:ext>
            </p:extLst>
          </p:nvPr>
        </p:nvGraphicFramePr>
        <p:xfrm>
          <a:off x="354861" y="1020305"/>
          <a:ext cx="4459917" cy="34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73665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5FF890B-3CE7-403A-AECE-2DE04FC7A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5143500"/>
            <a:chOff x="1320800" y="0"/>
            <a:chExt cx="2436813" cy="685800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99A4E160-6CFD-4514-9E20-CA6692CCD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3DCD16F5-8D15-45FD-BA62-ADAC08183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E7CFAF28-6FDA-4C2C-BE51-123D1115F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1FD12703-0627-4991-B2A4-F96519F90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A5758E0B-DF61-40A8-B765-BC6841906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3E063A1F-9566-4436-B4E3-2890FBBC2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AA2F11C-9F40-3C2B-0C12-23DF0D6C0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3" y="811161"/>
            <a:ext cx="2500121" cy="11282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2800" dirty="0"/>
              <a:t>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2DD1B-7D7B-F71E-EEFA-587E4647A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3233" y="2000249"/>
            <a:ext cx="2500122" cy="23431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14300" indent="0">
              <a:spcBef>
                <a:spcPct val="20000"/>
              </a:spcBef>
              <a:spcAft>
                <a:spcPts val="600"/>
              </a:spcAft>
              <a:buSzPct val="145000"/>
              <a:buNone/>
            </a:pPr>
            <a:r>
              <a:rPr lang="en-US" sz="1200" b="1" dirty="0"/>
              <a:t>Player Profiles</a:t>
            </a:r>
          </a:p>
          <a:p>
            <a:pPr lvl="1">
              <a:spcBef>
                <a:spcPct val="20000"/>
              </a:spcBef>
              <a:spcAft>
                <a:spcPts val="600"/>
              </a:spcAft>
              <a:buSzPct val="145000"/>
              <a:buFont typeface="Arial"/>
              <a:buChar char="•"/>
            </a:pPr>
            <a:r>
              <a:rPr lang="en-US" sz="1200" dirty="0"/>
              <a:t>Team history</a:t>
            </a:r>
          </a:p>
          <a:p>
            <a:pPr lvl="1">
              <a:spcBef>
                <a:spcPct val="20000"/>
              </a:spcBef>
              <a:spcAft>
                <a:spcPts val="600"/>
              </a:spcAft>
              <a:buSzPct val="145000"/>
              <a:buFont typeface="Arial"/>
              <a:buChar char="•"/>
            </a:pPr>
            <a:r>
              <a:rPr lang="en-US" sz="1200" dirty="0"/>
              <a:t>Biographic Data</a:t>
            </a:r>
          </a:p>
          <a:p>
            <a:pPr lvl="1">
              <a:spcBef>
                <a:spcPct val="20000"/>
              </a:spcBef>
              <a:spcAft>
                <a:spcPts val="600"/>
              </a:spcAft>
              <a:buSzPct val="145000"/>
              <a:buFont typeface="Arial"/>
              <a:buChar char="•"/>
            </a:pPr>
            <a:r>
              <a:rPr lang="en-US" sz="1200" dirty="0"/>
              <a:t>Career stats(points, rebounds, assists, etc.)</a:t>
            </a:r>
          </a:p>
          <a:p>
            <a:pPr lvl="1">
              <a:spcBef>
                <a:spcPct val="20000"/>
              </a:spcBef>
              <a:spcAft>
                <a:spcPts val="600"/>
              </a:spcAft>
              <a:buSzPct val="145000"/>
              <a:buFont typeface="Arial"/>
              <a:buChar char="•"/>
            </a:pPr>
            <a:r>
              <a:rPr lang="en-US" sz="1200" dirty="0"/>
              <a:t>Awards</a:t>
            </a:r>
          </a:p>
          <a:p>
            <a:pPr lvl="1">
              <a:spcBef>
                <a:spcPct val="20000"/>
              </a:spcBef>
              <a:spcAft>
                <a:spcPts val="600"/>
              </a:spcAft>
              <a:buSzPct val="145000"/>
              <a:buFont typeface="Arial"/>
              <a:buChar char="•"/>
            </a:pPr>
            <a:r>
              <a:rPr lang="en-US" sz="1200" dirty="0"/>
              <a:t>All-star selections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3F24D1-35B3-FF5F-AE3E-AEA49D85A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24" y="1045976"/>
            <a:ext cx="4680743" cy="27265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056121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0EB3E1-80DA-601E-E5B1-C0069F56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5FF890B-3CE7-403A-AECE-2DE04FC7A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5143500"/>
            <a:chOff x="1320800" y="0"/>
            <a:chExt cx="2436813" cy="685800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99A4E160-6CFD-4514-9E20-CA6692CCD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3DCD16F5-8D15-45FD-BA62-ADAC08183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E7CFAF28-6FDA-4C2C-BE51-123D1115F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1FD12703-0627-4991-B2A4-F96519F90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A5758E0B-DF61-40A8-B765-BC6841906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3E063A1F-9566-4436-B4E3-2890FBBC2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A9B547A-B630-B7D7-ABD9-DBFA37103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3" y="811161"/>
            <a:ext cx="2500121" cy="11282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2800" dirty="0"/>
              <a:t>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FFA18-DDC9-63C5-6E65-C0CAD44A0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3233" y="2000249"/>
            <a:ext cx="2500122" cy="23431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14300" indent="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SzPct val="145000"/>
              <a:buNone/>
            </a:pPr>
            <a:r>
              <a:rPr lang="en-US" sz="1200" b="1" dirty="0"/>
              <a:t>Team Exploration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SzPct val="145000"/>
              <a:buFont typeface="Arial"/>
              <a:buChar char="•"/>
            </a:pPr>
            <a:r>
              <a:rPr lang="en-US" sz="1000" dirty="0"/>
              <a:t>Team info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SzPct val="145000"/>
              <a:buFont typeface="Arial"/>
              <a:buChar char="•"/>
            </a:pPr>
            <a:r>
              <a:rPr lang="en-US" sz="1000" dirty="0"/>
              <a:t>Team roster and positions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SzPct val="145000"/>
              <a:buFont typeface="Arial"/>
              <a:buChar char="•"/>
            </a:pPr>
            <a:r>
              <a:rPr lang="en-US" sz="1000" dirty="0"/>
              <a:t>Season record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SzPct val="145000"/>
              <a:buFont typeface="Arial"/>
              <a:buChar char="•"/>
            </a:pPr>
            <a:r>
              <a:rPr lang="en-US" sz="1000" dirty="0"/>
              <a:t>Schedule and results</a:t>
            </a:r>
            <a:br>
              <a:rPr lang="en-US" sz="1000" dirty="0"/>
            </a:br>
            <a:endParaRPr lang="en-US" sz="1000" dirty="0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46FFC3C-36E4-B6CA-3356-64DFAEC54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553613"/>
            <a:ext cx="3448706" cy="378978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187330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27A76-5F1C-5264-36A0-83051BF25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5FF890B-3CE7-403A-AECE-2DE04FC7A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5143500"/>
            <a:chOff x="1320800" y="0"/>
            <a:chExt cx="2436813" cy="685800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99A4E160-6CFD-4514-9E20-CA6692CCD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DCD16F5-8D15-45FD-BA62-ADAC08183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E7CFAF28-6FDA-4C2C-BE51-123D1115F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1FD12703-0627-4991-B2A4-F96519F90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A5758E0B-DF61-40A8-B765-BC6841906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3E063A1F-9566-4436-B4E3-2890FBBC2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969EF34-6140-3D08-0EF3-1C81F77A5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3" y="811161"/>
            <a:ext cx="2500121" cy="11282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2800" dirty="0"/>
              <a:t>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1DBD6-BDCB-4C27-56B5-A756D723B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3233" y="2000249"/>
            <a:ext cx="2500122" cy="23431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14300" indent="0">
              <a:spcBef>
                <a:spcPct val="20000"/>
              </a:spcBef>
              <a:spcAft>
                <a:spcPts val="600"/>
              </a:spcAft>
              <a:buSzPct val="145000"/>
              <a:buNone/>
            </a:pPr>
            <a:r>
              <a:rPr lang="en-US" sz="1200" b="1" dirty="0"/>
              <a:t>League Wide Stats</a:t>
            </a:r>
          </a:p>
          <a:p>
            <a:pPr lvl="1">
              <a:spcBef>
                <a:spcPct val="20000"/>
              </a:spcBef>
              <a:spcAft>
                <a:spcPts val="600"/>
              </a:spcAft>
              <a:buSzPct val="145000"/>
              <a:buFont typeface="Arial"/>
              <a:buChar char="•"/>
            </a:pPr>
            <a:r>
              <a:rPr lang="en-US" sz="1200" dirty="0"/>
              <a:t>Top scorers, rebounders, and assists</a:t>
            </a:r>
          </a:p>
          <a:p>
            <a:pPr lvl="1">
              <a:spcBef>
                <a:spcPct val="20000"/>
              </a:spcBef>
              <a:spcAft>
                <a:spcPts val="600"/>
              </a:spcAft>
              <a:buSzPct val="145000"/>
              <a:buFont typeface="Arial"/>
              <a:buChar char="•"/>
            </a:pPr>
            <a:r>
              <a:rPr lang="en-US" sz="1200" dirty="0"/>
              <a:t>Top performing teams</a:t>
            </a:r>
          </a:p>
          <a:p>
            <a:pPr lvl="1">
              <a:spcBef>
                <a:spcPct val="20000"/>
              </a:spcBef>
              <a:spcAft>
                <a:spcPts val="600"/>
              </a:spcAft>
              <a:buSzPct val="145000"/>
              <a:buFont typeface="Arial"/>
              <a:buChar char="•"/>
            </a:pPr>
            <a:r>
              <a:rPr lang="en-US" sz="1200" dirty="0"/>
              <a:t>Player season stats</a:t>
            </a:r>
            <a:br>
              <a:rPr lang="en-US" sz="1200" dirty="0"/>
            </a:br>
            <a:endParaRPr lang="en-US" sz="12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7EFA73-1C41-B4F2-F213-3278A2247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24" y="841194"/>
            <a:ext cx="4680743" cy="313609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55067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4031F-1BFF-01EE-E7E1-F6A244D1B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5FF890B-3CE7-403A-AECE-2DE04FC7A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5143500"/>
            <a:chOff x="1320800" y="0"/>
            <a:chExt cx="2436813" cy="685800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99A4E160-6CFD-4514-9E20-CA6692CCD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DCD16F5-8D15-45FD-BA62-ADAC08183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E7CFAF28-6FDA-4C2C-BE51-123D1115F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1FD12703-0627-4991-B2A4-F96519F90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A5758E0B-DF61-40A8-B765-BC6841906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3E063A1F-9566-4436-B4E3-2890FBBC2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654E8A-F5DE-31BE-A4C6-19A9BD7EA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3" y="811161"/>
            <a:ext cx="2500121" cy="11282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2800" dirty="0"/>
              <a:t>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3D4AE-9F9B-6E30-8F5E-D993B0011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3233" y="2000249"/>
            <a:ext cx="2500122" cy="23431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14300" indent="0">
              <a:spcBef>
                <a:spcPct val="20000"/>
              </a:spcBef>
              <a:spcAft>
                <a:spcPts val="600"/>
              </a:spcAft>
              <a:buSzPct val="145000"/>
              <a:buNone/>
            </a:pPr>
            <a:r>
              <a:rPr lang="en-US" sz="1200" b="1" dirty="0"/>
              <a:t>Draft and All-star</a:t>
            </a:r>
          </a:p>
          <a:p>
            <a:pPr lvl="1">
              <a:spcBef>
                <a:spcPct val="20000"/>
              </a:spcBef>
              <a:spcAft>
                <a:spcPts val="600"/>
              </a:spcAft>
              <a:buSzPct val="145000"/>
              <a:buFont typeface="Arial"/>
              <a:buChar char="•"/>
            </a:pPr>
            <a:r>
              <a:rPr lang="en-US" sz="1200" dirty="0"/>
              <a:t>Draft picks  for a certain year</a:t>
            </a:r>
          </a:p>
          <a:p>
            <a:pPr lvl="1">
              <a:spcBef>
                <a:spcPct val="20000"/>
              </a:spcBef>
              <a:spcAft>
                <a:spcPts val="600"/>
              </a:spcAft>
              <a:buSzPct val="145000"/>
              <a:buFont typeface="Arial"/>
              <a:buChar char="•"/>
            </a:pPr>
            <a:r>
              <a:rPr lang="en-US" sz="1200" dirty="0"/>
              <a:t>All-star selections</a:t>
            </a:r>
          </a:p>
          <a:p>
            <a:pPr lvl="1">
              <a:spcBef>
                <a:spcPct val="20000"/>
              </a:spcBef>
              <a:spcAft>
                <a:spcPts val="600"/>
              </a:spcAft>
              <a:buSzPct val="145000"/>
              <a:buFont typeface="Arial"/>
              <a:buChar char="•"/>
            </a:pPr>
            <a:r>
              <a:rPr lang="en-US" sz="1200" dirty="0"/>
              <a:t>All-star game winners</a:t>
            </a:r>
            <a:br>
              <a:rPr lang="en-US" sz="1200" dirty="0"/>
            </a:br>
            <a:endParaRPr lang="en-US" sz="1200" dirty="0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E9A5BCD-B639-9CF9-3B99-3FEC4DECC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697" y="514349"/>
            <a:ext cx="2264397" cy="3789787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887542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D79D9D-57B5-C179-FD02-3591404BF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15FF890B-3CE7-403A-AECE-2DE04FC7A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5143500"/>
            <a:chOff x="1320800" y="0"/>
            <a:chExt cx="2436813" cy="6858001"/>
          </a:xfrm>
        </p:grpSpPr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99A4E160-6CFD-4514-9E20-CA6692CCD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3DCD16F5-8D15-45FD-BA62-ADAC08183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E7CFAF28-6FDA-4C2C-BE51-123D1115F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1FD12703-0627-4991-B2A4-F96519F908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A5758E0B-DF61-40A8-B765-BC6841906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E063A1F-9566-4436-B4E3-2890FBBC2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0E4324-450F-3CA8-234C-5D9D5BA3D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33" y="811161"/>
            <a:ext cx="2500121" cy="11282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1800"/>
              <a:t>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7E46E-DDF9-E91C-9C33-B836AE1A4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3233" y="2000249"/>
            <a:ext cx="2500122" cy="234315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14300" indent="0">
              <a:spcBef>
                <a:spcPct val="20000"/>
              </a:spcBef>
              <a:spcAft>
                <a:spcPts val="600"/>
              </a:spcAft>
              <a:buSzPct val="145000"/>
              <a:buNone/>
            </a:pPr>
            <a:r>
              <a:rPr lang="en-US" sz="1200" b="1" dirty="0"/>
              <a:t>Updates to the database</a:t>
            </a:r>
          </a:p>
          <a:p>
            <a:pPr lvl="1">
              <a:spcBef>
                <a:spcPct val="20000"/>
              </a:spcBef>
              <a:spcAft>
                <a:spcPts val="600"/>
              </a:spcAft>
              <a:buSzPct val="145000"/>
              <a:buFont typeface="Arial"/>
              <a:buChar char="•"/>
            </a:pPr>
            <a:r>
              <a:rPr lang="en-US" sz="1200" dirty="0"/>
              <a:t>Trade players from one team to another</a:t>
            </a:r>
          </a:p>
          <a:p>
            <a:pPr lvl="1">
              <a:spcBef>
                <a:spcPct val="20000"/>
              </a:spcBef>
              <a:spcAft>
                <a:spcPts val="600"/>
              </a:spcAft>
              <a:buSzPct val="145000"/>
              <a:buFont typeface="Arial"/>
              <a:buChar char="•"/>
            </a:pPr>
            <a:r>
              <a:rPr lang="en-US" sz="1200" dirty="0"/>
              <a:t>Player stats can be updated</a:t>
            </a:r>
            <a:br>
              <a:rPr lang="en-US" sz="1200" dirty="0"/>
            </a:br>
            <a:endParaRPr lang="en-US" sz="1200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4BC470-74B2-0FC6-DE89-695974FC7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6524" y="940659"/>
            <a:ext cx="4680743" cy="293716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4131014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2826300" y="137844"/>
            <a:ext cx="306991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E/R diagram</a:t>
            </a:r>
            <a:endParaRPr/>
          </a:p>
        </p:txBody>
      </p:sp>
      <p:pic>
        <p:nvPicPr>
          <p:cNvPr id="4" name="Picture 3" descr="A diagram of a sports team&#10;&#10;AI-generated content may be incorrect.">
            <a:extLst>
              <a:ext uri="{FF2B5EF4-FFF2-40B4-BE49-F238E27FC236}">
                <a16:creationId xmlns:a16="http://schemas.microsoft.com/office/drawing/2014/main" id="{DA1690A2-F495-4B61-E752-506A82913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62" y="929466"/>
            <a:ext cx="7198283" cy="3476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58225-60A4-716A-4404-810FBC19F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Relational Schema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9B23B-8239-7D90-A3F2-1DD0BB833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61611" y="605015"/>
            <a:ext cx="2405374" cy="222147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900" b="1" dirty="0">
                <a:cs typeface="Times New Roman" panose="02020603050405020304" pitchFamily="18" charset="0"/>
              </a:rPr>
              <a:t>PLAYER(</a:t>
            </a:r>
            <a:r>
              <a:rPr lang="en-US" sz="900" b="1" dirty="0" err="1">
                <a:cs typeface="Times New Roman" panose="02020603050405020304" pitchFamily="18" charset="0"/>
              </a:rPr>
              <a:t>PlayerID</a:t>
            </a:r>
            <a:r>
              <a:rPr lang="en-US" sz="900" b="1" dirty="0"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cs typeface="Times New Roman" panose="02020603050405020304" pitchFamily="18" charset="0"/>
              </a:rPr>
              <a:t>PlayerName</a:t>
            </a:r>
            <a:r>
              <a:rPr lang="en-US" sz="900" b="1" dirty="0"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cs typeface="Times New Roman" panose="02020603050405020304" pitchFamily="18" charset="0"/>
              </a:rPr>
              <a:t>BornDate</a:t>
            </a:r>
            <a:r>
              <a:rPr lang="en-US" sz="900" b="1" dirty="0">
                <a:cs typeface="Times New Roman" panose="02020603050405020304" pitchFamily="18" charset="0"/>
              </a:rPr>
              <a:t>, Height, Weight)</a:t>
            </a:r>
          </a:p>
          <a:p>
            <a:pPr marL="114300" indent="0">
              <a:buNone/>
            </a:pPr>
            <a:r>
              <a:rPr lang="en-US" sz="900" b="1" dirty="0"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cs typeface="Times New Roman" panose="02020603050405020304" pitchFamily="18" charset="0"/>
              </a:rPr>
              <a:t>PlayerID</a:t>
            </a:r>
            <a:br>
              <a:rPr lang="en-US" sz="900" dirty="0">
                <a:cs typeface="Times New Roman" panose="02020603050405020304" pitchFamily="18" charset="0"/>
              </a:rPr>
            </a:br>
            <a:r>
              <a:rPr lang="en-US" sz="900" b="1" dirty="0">
                <a:cs typeface="Times New Roman" panose="02020603050405020304" pitchFamily="18" charset="0"/>
              </a:rPr>
              <a:t>Referenced in:</a:t>
            </a:r>
            <a:endParaRPr lang="en-US" sz="900" dirty="0"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900" dirty="0">
                <a:cs typeface="Times New Roman" panose="02020603050405020304" pitchFamily="18" charset="0"/>
              </a:rPr>
              <a:t>PLAYER_TEAM(</a:t>
            </a:r>
            <a:r>
              <a:rPr lang="en-US" sz="900" dirty="0" err="1">
                <a:cs typeface="Times New Roman" panose="02020603050405020304" pitchFamily="18" charset="0"/>
              </a:rPr>
              <a:t>PlayerID</a:t>
            </a:r>
            <a:r>
              <a:rPr lang="en-US" sz="900" dirty="0">
                <a:cs typeface="Times New Roman" panose="02020603050405020304" pitchFamily="18" charset="0"/>
              </a:rPr>
              <a:t>)</a:t>
            </a:r>
          </a:p>
          <a:p>
            <a:pPr marL="114300" indent="0">
              <a:buNone/>
            </a:pPr>
            <a:r>
              <a:rPr lang="en-US" sz="900" dirty="0">
                <a:cs typeface="Times New Roman" panose="02020603050405020304" pitchFamily="18" charset="0"/>
              </a:rPr>
              <a:t>PLAYER_SEASON(</a:t>
            </a:r>
            <a:r>
              <a:rPr lang="en-US" sz="900" dirty="0" err="1">
                <a:cs typeface="Times New Roman" panose="02020603050405020304" pitchFamily="18" charset="0"/>
              </a:rPr>
              <a:t>PlayerID</a:t>
            </a:r>
            <a:r>
              <a:rPr lang="en-US" sz="900" dirty="0">
                <a:cs typeface="Times New Roman" panose="02020603050405020304" pitchFamily="18" charset="0"/>
              </a:rPr>
              <a:t>)</a:t>
            </a:r>
          </a:p>
          <a:p>
            <a:pPr marL="114300" indent="0">
              <a:buNone/>
            </a:pPr>
            <a:r>
              <a:rPr lang="en-US" sz="900" dirty="0">
                <a:cs typeface="Times New Roman" panose="02020603050405020304" pitchFamily="18" charset="0"/>
              </a:rPr>
              <a:t>STATISTICS(</a:t>
            </a:r>
            <a:r>
              <a:rPr lang="en-US" sz="900" dirty="0" err="1">
                <a:cs typeface="Times New Roman" panose="02020603050405020304" pitchFamily="18" charset="0"/>
              </a:rPr>
              <a:t>PlayerID</a:t>
            </a:r>
            <a:r>
              <a:rPr lang="en-US" sz="900" dirty="0">
                <a:cs typeface="Times New Roman" panose="02020603050405020304" pitchFamily="18" charset="0"/>
              </a:rPr>
              <a:t>)</a:t>
            </a:r>
          </a:p>
          <a:p>
            <a:pPr marL="114300" indent="0">
              <a:buNone/>
            </a:pPr>
            <a:r>
              <a:rPr lang="en-US" sz="900" dirty="0">
                <a:cs typeface="Times New Roman" panose="02020603050405020304" pitchFamily="18" charset="0"/>
              </a:rPr>
              <a:t>PLAYER_AWARD(</a:t>
            </a:r>
            <a:r>
              <a:rPr lang="en-US" sz="900" dirty="0" err="1">
                <a:cs typeface="Times New Roman" panose="02020603050405020304" pitchFamily="18" charset="0"/>
              </a:rPr>
              <a:t>PlayerID</a:t>
            </a:r>
            <a:r>
              <a:rPr lang="en-US" sz="900" dirty="0">
                <a:cs typeface="Times New Roman" panose="02020603050405020304" pitchFamily="18" charset="0"/>
              </a:rPr>
              <a:t>)</a:t>
            </a:r>
          </a:p>
          <a:p>
            <a:pPr marL="114300" indent="0">
              <a:buNone/>
            </a:pPr>
            <a:r>
              <a:rPr lang="en-US" sz="900" dirty="0">
                <a:cs typeface="Times New Roman" panose="02020603050405020304" pitchFamily="18" charset="0"/>
              </a:rPr>
              <a:t>ALL_STAR_PLAYER(</a:t>
            </a:r>
            <a:r>
              <a:rPr lang="en-US" sz="900" dirty="0" err="1">
                <a:cs typeface="Times New Roman" panose="02020603050405020304" pitchFamily="18" charset="0"/>
              </a:rPr>
              <a:t>PlayerID</a:t>
            </a:r>
            <a:r>
              <a:rPr lang="en-US" sz="900" dirty="0">
                <a:cs typeface="Times New Roman" panose="02020603050405020304" pitchFamily="18" charset="0"/>
              </a:rPr>
              <a:t>)</a:t>
            </a:r>
          </a:p>
          <a:p>
            <a:pPr marL="114300" indent="0">
              <a:buNone/>
            </a:pPr>
            <a:r>
              <a:rPr lang="en-US" sz="900" dirty="0">
                <a:cs typeface="Times New Roman" panose="02020603050405020304" pitchFamily="18" charset="0"/>
              </a:rPr>
              <a:t>DRAFT_PICK(</a:t>
            </a:r>
            <a:r>
              <a:rPr lang="en-US" sz="900" dirty="0" err="1">
                <a:cs typeface="Times New Roman" panose="02020603050405020304" pitchFamily="18" charset="0"/>
              </a:rPr>
              <a:t>PlayerID</a:t>
            </a:r>
            <a:r>
              <a:rPr lang="en-US" sz="900" dirty="0">
                <a:cs typeface="Times New Roman" panose="02020603050405020304" pitchFamily="18" charset="0"/>
              </a:rPr>
              <a:t>)</a:t>
            </a:r>
          </a:p>
          <a:p>
            <a:pPr marL="114300" indent="0">
              <a:buNone/>
            </a:pP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8F39F-194E-D037-9ED9-DFFAEACE55A5}"/>
              </a:ext>
            </a:extLst>
          </p:cNvPr>
          <p:cNvSpPr txBox="1"/>
          <p:nvPr/>
        </p:nvSpPr>
        <p:spPr>
          <a:xfrm>
            <a:off x="58769" y="2117383"/>
            <a:ext cx="23158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TEAM(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TeamName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City,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ArenaName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br>
              <a:rPr lang="en-US" sz="900" dirty="0">
                <a:latin typeface="+mn-lt"/>
                <a:cs typeface="Times New Roman" panose="02020603050405020304" pitchFamily="18" charset="0"/>
              </a:rPr>
            </a:br>
            <a:r>
              <a:rPr lang="en-US" sz="900" b="1" dirty="0">
                <a:latin typeface="+mn-lt"/>
                <a:cs typeface="Times New Roman" panose="02020603050405020304" pitchFamily="18" charset="0"/>
              </a:rPr>
              <a:t>Referenced in:</a:t>
            </a:r>
            <a:endParaRPr lang="en-US" sz="90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900" dirty="0">
                <a:latin typeface="+mn-lt"/>
                <a:cs typeface="Times New Roman" panose="02020603050405020304" pitchFamily="18" charset="0"/>
              </a:rPr>
              <a:t>PLAYER_TEAM(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>
                <a:latin typeface="+mn-lt"/>
                <a:cs typeface="Times New Roman" panose="02020603050405020304" pitchFamily="18" charset="0"/>
              </a:rPr>
              <a:t>GAME(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HomeTeamID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), GAME(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AwayTeamID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), GAME(Winner)</a:t>
            </a:r>
          </a:p>
          <a:p>
            <a:r>
              <a:rPr lang="en-US" sz="900" dirty="0">
                <a:latin typeface="+mn-lt"/>
                <a:cs typeface="Times New Roman" panose="02020603050405020304" pitchFamily="18" charset="0"/>
              </a:rPr>
              <a:t>ALL_STAR(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WinnerTeam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pPr>
              <a:buNone/>
            </a:pPr>
            <a:endParaRPr lang="en-US" sz="900" dirty="0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A2A10E-E285-AD4A-1CBF-9499FFE9F0B1}"/>
              </a:ext>
            </a:extLst>
          </p:cNvPr>
          <p:cNvSpPr txBox="1"/>
          <p:nvPr/>
        </p:nvSpPr>
        <p:spPr>
          <a:xfrm>
            <a:off x="58769" y="3358078"/>
            <a:ext cx="228499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PLAYER_TEAM(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Position, Traded)</a:t>
            </a:r>
          </a:p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  <a:br>
              <a:rPr lang="en-US" sz="900" dirty="0">
                <a:latin typeface="+mn-lt"/>
                <a:cs typeface="Times New Roman" panose="02020603050405020304" pitchFamily="18" charset="0"/>
              </a:rPr>
            </a:br>
            <a:r>
              <a:rPr lang="en-US" sz="900" b="1" dirty="0">
                <a:latin typeface="+mn-lt"/>
                <a:cs typeface="Times New Roman" panose="02020603050405020304" pitchFamily="18" charset="0"/>
              </a:rPr>
              <a:t>Foreign Keys:</a:t>
            </a:r>
            <a:endParaRPr lang="en-US" sz="90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PLAYER(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TEAM(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endParaRPr lang="en-US" sz="9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84FD97-31BC-8B39-E257-C56C2C06CF71}"/>
              </a:ext>
            </a:extLst>
          </p:cNvPr>
          <p:cNvSpPr txBox="1"/>
          <p:nvPr/>
        </p:nvSpPr>
        <p:spPr>
          <a:xfrm>
            <a:off x="2332136" y="609139"/>
            <a:ext cx="271707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PLAYER_SEASON(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Team)</a:t>
            </a:r>
          </a:p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  <a:br>
              <a:rPr lang="en-US" sz="900" dirty="0">
                <a:latin typeface="+mn-lt"/>
                <a:cs typeface="Times New Roman" panose="02020603050405020304" pitchFamily="18" charset="0"/>
              </a:rPr>
            </a:br>
            <a:r>
              <a:rPr lang="en-US" sz="900" b="1" dirty="0">
                <a:latin typeface="+mn-lt"/>
                <a:cs typeface="Times New Roman" panose="02020603050405020304" pitchFamily="18" charset="0"/>
              </a:rPr>
              <a:t>Foreign Keys:</a:t>
            </a:r>
            <a:endParaRPr lang="en-US" sz="90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PLAYER(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SEASON(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078D8B-DCAB-7F5B-C3A0-5A3AC03C7021}"/>
              </a:ext>
            </a:extLst>
          </p:cNvPr>
          <p:cNvSpPr txBox="1"/>
          <p:nvPr/>
        </p:nvSpPr>
        <p:spPr>
          <a:xfrm>
            <a:off x="2332136" y="1586468"/>
            <a:ext cx="22225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STATISTICS(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StatsID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Points, Rebounds, Assist, Steals, Blocks)</a:t>
            </a:r>
          </a:p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StatsID</a:t>
            </a:r>
            <a:br>
              <a:rPr lang="en-US" sz="900" dirty="0">
                <a:latin typeface="+mn-lt"/>
                <a:cs typeface="Times New Roman" panose="02020603050405020304" pitchFamily="18" charset="0"/>
              </a:rPr>
            </a:br>
            <a:r>
              <a:rPr lang="en-US" sz="900" b="1" dirty="0">
                <a:latin typeface="+mn-lt"/>
                <a:cs typeface="Times New Roman" panose="02020603050405020304" pitchFamily="18" charset="0"/>
              </a:rPr>
              <a:t>Foreign Keys:</a:t>
            </a:r>
            <a:endParaRPr lang="en-US" sz="90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PLAYER(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SEASON(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TEAM(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8140E2-211F-0F6F-B2BA-9F9D81BA54F7}"/>
              </a:ext>
            </a:extLst>
          </p:cNvPr>
          <p:cNvSpPr txBox="1"/>
          <p:nvPr/>
        </p:nvSpPr>
        <p:spPr>
          <a:xfrm>
            <a:off x="2343763" y="3018988"/>
            <a:ext cx="2599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SEASON(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YearStart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YearEnd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SeasonID</a:t>
            </a:r>
            <a:br>
              <a:rPr lang="en-US" sz="900" dirty="0">
                <a:latin typeface="+mn-lt"/>
                <a:cs typeface="Times New Roman" panose="02020603050405020304" pitchFamily="18" charset="0"/>
              </a:rPr>
            </a:br>
            <a:r>
              <a:rPr lang="en-US" sz="900" b="1" dirty="0">
                <a:latin typeface="+mn-lt"/>
                <a:cs typeface="Times New Roman" panose="02020603050405020304" pitchFamily="18" charset="0"/>
              </a:rPr>
              <a:t>Referenced in:</a:t>
            </a:r>
            <a:endParaRPr lang="en-US" sz="90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900" dirty="0">
                <a:latin typeface="+mn-lt"/>
                <a:cs typeface="Times New Roman" panose="02020603050405020304" pitchFamily="18" charset="0"/>
              </a:rPr>
              <a:t>PLAYER_SEASON(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>
                <a:latin typeface="+mn-lt"/>
                <a:cs typeface="Times New Roman" panose="02020603050405020304" pitchFamily="18" charset="0"/>
              </a:rPr>
              <a:t>STATISTICS(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>
                <a:latin typeface="+mn-lt"/>
                <a:cs typeface="Times New Roman" panose="02020603050405020304" pitchFamily="18" charset="0"/>
              </a:rPr>
              <a:t>DRAFT_PICK(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SeasonID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>
                <a:latin typeface="+mn-lt"/>
                <a:cs typeface="Times New Roman" panose="02020603050405020304" pitchFamily="18" charset="0"/>
              </a:rPr>
              <a:t>ALL_STAR(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AllStarID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links to Season)</a:t>
            </a:r>
          </a:p>
          <a:p>
            <a:endParaRPr lang="en-US" sz="900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3F5B6-36C1-5D6D-8125-B209327033F3}"/>
              </a:ext>
            </a:extLst>
          </p:cNvPr>
          <p:cNvSpPr txBox="1"/>
          <p:nvPr/>
        </p:nvSpPr>
        <p:spPr>
          <a:xfrm>
            <a:off x="70396" y="4371172"/>
            <a:ext cx="226174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AWARD(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AwardID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AwardName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AwardID</a:t>
            </a:r>
            <a:endParaRPr lang="en-US" sz="900" dirty="0">
              <a:latin typeface="+mn-lt"/>
              <a:cs typeface="Times New Roman" panose="02020603050405020304" pitchFamily="18" charset="0"/>
            </a:endParaRPr>
          </a:p>
          <a:p>
            <a:endParaRPr lang="en-US" sz="900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91D362-B201-4D86-D696-4A4FC44E5C82}"/>
              </a:ext>
            </a:extLst>
          </p:cNvPr>
          <p:cNvSpPr txBox="1"/>
          <p:nvPr/>
        </p:nvSpPr>
        <p:spPr>
          <a:xfrm>
            <a:off x="5182047" y="641049"/>
            <a:ext cx="346352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PLAYER_AWARD(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AwardID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AwardYear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AwardID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AwardYear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  <a:br>
              <a:rPr lang="en-US" sz="900" dirty="0">
                <a:latin typeface="+mn-lt"/>
                <a:cs typeface="Times New Roman" panose="02020603050405020304" pitchFamily="18" charset="0"/>
              </a:rPr>
            </a:br>
            <a:r>
              <a:rPr lang="en-US" sz="900" b="1" dirty="0">
                <a:latin typeface="+mn-lt"/>
                <a:cs typeface="Times New Roman" panose="02020603050405020304" pitchFamily="18" charset="0"/>
              </a:rPr>
              <a:t>Foreign Keys:</a:t>
            </a:r>
            <a:endParaRPr lang="en-US" sz="90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PLAYER(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AwardID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AWARD(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AwardID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F1D2BE-82C0-F273-CB1B-4C7A6B744643}"/>
              </a:ext>
            </a:extLst>
          </p:cNvPr>
          <p:cNvSpPr txBox="1"/>
          <p:nvPr/>
        </p:nvSpPr>
        <p:spPr>
          <a:xfrm>
            <a:off x="2332136" y="4186506"/>
            <a:ext cx="410173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ALL_STAR(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AllStarID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WinningTeam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AllStarID</a:t>
            </a:r>
            <a:br>
              <a:rPr lang="en-US" sz="900" dirty="0">
                <a:latin typeface="+mn-lt"/>
                <a:cs typeface="Times New Roman" panose="02020603050405020304" pitchFamily="18" charset="0"/>
              </a:rPr>
            </a:br>
            <a:r>
              <a:rPr lang="en-US" sz="900" b="1" dirty="0">
                <a:latin typeface="+mn-lt"/>
                <a:cs typeface="Times New Roman" panose="02020603050405020304" pitchFamily="18" charset="0"/>
              </a:rPr>
              <a:t>Foreign Keys:</a:t>
            </a:r>
            <a:endParaRPr lang="en-US" sz="90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WinningTeam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TEAM(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endParaRPr lang="en-US" sz="900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E963C1-67DD-B344-F81D-C6B960F5630C}"/>
              </a:ext>
            </a:extLst>
          </p:cNvPr>
          <p:cNvSpPr txBox="1"/>
          <p:nvPr/>
        </p:nvSpPr>
        <p:spPr>
          <a:xfrm>
            <a:off x="5182047" y="1586468"/>
            <a:ext cx="3836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ALL_STAR_PLAYER(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AllStarID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SelectionYear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Team)</a:t>
            </a:r>
          </a:p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AllStarID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  <a:br>
              <a:rPr lang="en-US" sz="900" dirty="0">
                <a:latin typeface="+mn-lt"/>
                <a:cs typeface="Times New Roman" panose="02020603050405020304" pitchFamily="18" charset="0"/>
              </a:rPr>
            </a:br>
            <a:r>
              <a:rPr lang="en-US" sz="900" b="1" dirty="0">
                <a:latin typeface="+mn-lt"/>
                <a:cs typeface="Times New Roman" panose="02020603050405020304" pitchFamily="18" charset="0"/>
              </a:rPr>
              <a:t>Foreign Keys:</a:t>
            </a:r>
            <a:endParaRPr lang="en-US" sz="90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AllStarID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ALL_STAR(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AllStarID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PLAYER(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PlayerID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endParaRPr lang="en-US" sz="900" dirty="0">
              <a:latin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B11F59-6DC3-C89F-F888-1EEAAA79CA30}"/>
              </a:ext>
            </a:extLst>
          </p:cNvPr>
          <p:cNvSpPr txBox="1"/>
          <p:nvPr/>
        </p:nvSpPr>
        <p:spPr>
          <a:xfrm>
            <a:off x="5191553" y="2571750"/>
            <a:ext cx="39524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GAME(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GameID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GameDate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HomeTeamID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AwayTeamID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HomeScore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</a:t>
            </a:r>
            <a:r>
              <a:rPr lang="en-US" sz="900" b="1" dirty="0" err="1">
                <a:latin typeface="+mn-lt"/>
                <a:cs typeface="Times New Roman" panose="02020603050405020304" pitchFamily="18" charset="0"/>
              </a:rPr>
              <a:t>AwayScore</a:t>
            </a:r>
            <a:r>
              <a:rPr lang="en-US" sz="900" b="1" dirty="0">
                <a:latin typeface="+mn-lt"/>
                <a:cs typeface="Times New Roman" panose="02020603050405020304" pitchFamily="18" charset="0"/>
              </a:rPr>
              <a:t>, Winner)</a:t>
            </a:r>
          </a:p>
          <a:p>
            <a:r>
              <a:rPr lang="en-US" sz="900" b="1" dirty="0">
                <a:latin typeface="+mn-lt"/>
                <a:cs typeface="Times New Roman" panose="02020603050405020304" pitchFamily="18" charset="0"/>
              </a:rPr>
              <a:t>Primary Key: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GameID</a:t>
            </a:r>
            <a:br>
              <a:rPr lang="en-US" sz="900" dirty="0">
                <a:latin typeface="+mn-lt"/>
                <a:cs typeface="Times New Roman" panose="02020603050405020304" pitchFamily="18" charset="0"/>
              </a:rPr>
            </a:br>
            <a:r>
              <a:rPr lang="en-US" sz="900" b="1" dirty="0">
                <a:latin typeface="+mn-lt"/>
                <a:cs typeface="Times New Roman" panose="02020603050405020304" pitchFamily="18" charset="0"/>
              </a:rPr>
              <a:t>Foreign Keys:</a:t>
            </a:r>
            <a:endParaRPr lang="en-US" sz="900" dirty="0">
              <a:latin typeface="+mn-lt"/>
              <a:cs typeface="Times New Roman" panose="02020603050405020304" pitchFamily="18" charset="0"/>
            </a:endParaRP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HomeTeamID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TEAM(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 err="1">
                <a:latin typeface="+mn-lt"/>
                <a:cs typeface="Times New Roman" panose="02020603050405020304" pitchFamily="18" charset="0"/>
              </a:rPr>
              <a:t>AwayTeamID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 → TEAM(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r>
              <a:rPr lang="en-US" sz="900" dirty="0">
                <a:latin typeface="+mn-lt"/>
                <a:cs typeface="Times New Roman" panose="02020603050405020304" pitchFamily="18" charset="0"/>
              </a:rPr>
              <a:t>Winner → TEAM(</a:t>
            </a:r>
            <a:r>
              <a:rPr lang="en-US" sz="900" dirty="0" err="1">
                <a:latin typeface="+mn-lt"/>
                <a:cs typeface="Times New Roman" panose="02020603050405020304" pitchFamily="18" charset="0"/>
              </a:rPr>
              <a:t>TeamID</a:t>
            </a:r>
            <a:r>
              <a:rPr lang="en-US" sz="900" dirty="0">
                <a:latin typeface="+mn-lt"/>
                <a:cs typeface="Times New Roman" panose="02020603050405020304" pitchFamily="18" charset="0"/>
              </a:rPr>
              <a:t>)</a:t>
            </a:r>
          </a:p>
          <a:p>
            <a:endParaRPr lang="en-US" sz="9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94437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D386F-862B-2E7F-DE51-989124499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Implementation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EE3B0-A27E-F5A1-133E-4A68E6836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Database Layer</a:t>
            </a:r>
          </a:p>
          <a:p>
            <a:pPr marL="114300" indent="0">
              <a:buNone/>
            </a:pPr>
            <a:r>
              <a:rPr lang="en-US" sz="1200" b="1" dirty="0"/>
              <a:t>Database:</a:t>
            </a:r>
            <a:endParaRPr lang="en-US" sz="1200" dirty="0"/>
          </a:p>
          <a:p>
            <a:pPr marL="114300" indent="0">
              <a:buNone/>
            </a:pPr>
            <a:r>
              <a:rPr lang="en-US" sz="1200" dirty="0"/>
              <a:t>	SQLite database (</a:t>
            </a:r>
            <a:r>
              <a:rPr lang="en-US" sz="1200" dirty="0" err="1"/>
              <a:t>NBA_stats.sqlite</a:t>
            </a:r>
            <a:r>
              <a:rPr lang="en-US" sz="1200" dirty="0"/>
              <a:t>) built from multiple CSV datasets.</a:t>
            </a:r>
          </a:p>
          <a:p>
            <a:pPr marL="114300" indent="0">
              <a:buNone/>
            </a:pPr>
            <a:r>
              <a:rPr lang="en-US" sz="1200" b="1" dirty="0"/>
              <a:t>Backend Class:</a:t>
            </a:r>
            <a:endParaRPr lang="en-US" sz="1200" dirty="0"/>
          </a:p>
          <a:p>
            <a:pPr marL="114300" indent="0">
              <a:buNone/>
            </a:pPr>
            <a:r>
              <a:rPr lang="en-US" sz="1200" dirty="0"/>
              <a:t>	</a:t>
            </a:r>
            <a:r>
              <a:rPr lang="en-US" sz="1200" dirty="0" err="1"/>
              <a:t>NBADatabase</a:t>
            </a:r>
            <a:r>
              <a:rPr lang="en-US" sz="1200" dirty="0"/>
              <a:t> handles all SQL operations (queries + updates).</a:t>
            </a:r>
          </a:p>
          <a:p>
            <a:pPr marL="114300" indent="0">
              <a:buNone/>
            </a:pPr>
            <a:r>
              <a:rPr lang="en-US" sz="1200" b="1" dirty="0"/>
              <a:t>SQL Features:</a:t>
            </a:r>
          </a:p>
          <a:p>
            <a:pPr marL="114300" indent="0">
              <a:buNone/>
            </a:pPr>
            <a:r>
              <a:rPr lang="en-US" sz="1200" dirty="0"/>
              <a:t>	Joins, Aggregates, parameter and date filtering</a:t>
            </a:r>
          </a:p>
          <a:p>
            <a:pPr marL="114300" indent="0">
              <a:buNone/>
            </a:pPr>
            <a:r>
              <a:rPr lang="en-US" sz="1200" b="1" dirty="0"/>
              <a:t>Operations:</a:t>
            </a:r>
          </a:p>
          <a:p>
            <a:pPr marL="114300" indent="0">
              <a:buNone/>
            </a:pPr>
            <a:r>
              <a:rPr lang="en-US" sz="1200" b="1" dirty="0"/>
              <a:t>	</a:t>
            </a:r>
            <a:r>
              <a:rPr lang="en-US" sz="1200" dirty="0"/>
              <a:t>Read and write</a:t>
            </a:r>
          </a:p>
          <a:p>
            <a:pPr marL="114300" indent="0">
              <a:buNone/>
            </a:pPr>
            <a:r>
              <a:rPr lang="en-US" sz="1200" b="1" dirty="0"/>
              <a:t>Connection:</a:t>
            </a:r>
          </a:p>
          <a:p>
            <a:pPr marL="114300" indent="0">
              <a:buNone/>
            </a:pPr>
            <a:r>
              <a:rPr lang="en-US" sz="1200" dirty="0"/>
              <a:t>	Single, persistent connection </a:t>
            </a:r>
          </a:p>
          <a:p>
            <a:pPr marL="114300" indent="0">
              <a:buNone/>
            </a:pPr>
            <a:endParaRPr lang="en-US" sz="1200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654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AFE64-44A4-2EA3-F487-79C5777E0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7D197-072B-00A2-5E0D-31D203CB4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Implementation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4CD4C-7330-DE27-4161-B3EA54A1C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UI Layer</a:t>
            </a:r>
          </a:p>
          <a:p>
            <a:pPr marL="114300" indent="0">
              <a:buNone/>
            </a:pPr>
            <a:r>
              <a:rPr lang="en-US" sz="1200" b="1" dirty="0"/>
              <a:t>UI structure:</a:t>
            </a:r>
          </a:p>
          <a:p>
            <a:pPr marL="114300" indent="0">
              <a:buNone/>
            </a:pPr>
            <a:r>
              <a:rPr lang="en-US" sz="1200" b="1" dirty="0"/>
              <a:t>	</a:t>
            </a:r>
            <a:r>
              <a:rPr lang="en-US" sz="1200" dirty="0"/>
              <a:t>Text-based Python CLI</a:t>
            </a:r>
          </a:p>
          <a:p>
            <a:pPr marL="114300" indent="0">
              <a:buNone/>
            </a:pPr>
            <a:r>
              <a:rPr lang="en-US" sz="1200" b="1" dirty="0"/>
              <a:t>Tasks:</a:t>
            </a:r>
          </a:p>
          <a:p>
            <a:pPr marL="114300" indent="0">
              <a:buNone/>
            </a:pPr>
            <a:r>
              <a:rPr lang="en-US" sz="1200" b="1" dirty="0"/>
              <a:t>	</a:t>
            </a:r>
            <a:r>
              <a:rPr lang="en-US" sz="1200" dirty="0"/>
              <a:t>Display menu, admin input, display results</a:t>
            </a:r>
          </a:p>
          <a:p>
            <a:pPr marL="114300" indent="0">
              <a:buNone/>
            </a:pPr>
            <a:r>
              <a:rPr lang="en-US" sz="1200" b="1" dirty="0"/>
              <a:t>Interactions:</a:t>
            </a:r>
          </a:p>
          <a:p>
            <a:pPr marL="114300" indent="0">
              <a:buNone/>
            </a:pPr>
            <a:r>
              <a:rPr lang="en-US" sz="1200" b="1" dirty="0"/>
              <a:t>	</a:t>
            </a:r>
            <a:r>
              <a:rPr lang="en-US" sz="1200" dirty="0"/>
              <a:t>Admin login for updates</a:t>
            </a:r>
          </a:p>
          <a:p>
            <a:pPr marL="114300" indent="0">
              <a:buNone/>
            </a:pPr>
            <a:r>
              <a:rPr lang="en-US" sz="1200" b="1" dirty="0"/>
              <a:t>	</a:t>
            </a:r>
            <a:r>
              <a:rPr lang="en-US" sz="1200" dirty="0"/>
              <a:t>Messages cleared on error</a:t>
            </a:r>
          </a:p>
          <a:p>
            <a:pPr marL="114300" indent="0">
              <a:buNone/>
            </a:pPr>
            <a:endParaRPr lang="en-US" sz="1200" b="1" dirty="0"/>
          </a:p>
          <a:p>
            <a:pPr marL="114300" indent="0">
              <a:buNone/>
            </a:pPr>
            <a:endParaRPr lang="en-US" sz="1200" b="1" dirty="0"/>
          </a:p>
          <a:p>
            <a:pPr marL="114300" indent="0">
              <a:buNone/>
            </a:pP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29845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247531" y="18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Use Case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376118" y="1152475"/>
            <a:ext cx="7456182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/>
              <a:t>Read Action: </a:t>
            </a:r>
            <a:r>
              <a:rPr lang="it"/>
              <a:t> 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err="1"/>
              <a:t>As</a:t>
            </a:r>
            <a:r>
              <a:rPr lang="it"/>
              <a:t> a user, I </a:t>
            </a:r>
            <a:r>
              <a:rPr lang="it" err="1"/>
              <a:t>want</a:t>
            </a:r>
            <a:r>
              <a:rPr lang="it"/>
              <a:t> to </a:t>
            </a:r>
            <a:r>
              <a:rPr lang="it" err="1"/>
              <a:t>view</a:t>
            </a:r>
            <a:r>
              <a:rPr lang="it"/>
              <a:t> information </a:t>
            </a:r>
            <a:r>
              <a:rPr lang="it" err="1"/>
              <a:t>based</a:t>
            </a:r>
            <a:r>
              <a:rPr lang="it"/>
              <a:t> on a </a:t>
            </a:r>
            <a:r>
              <a:rPr lang="it" err="1"/>
              <a:t>specific</a:t>
            </a:r>
            <a:r>
              <a:rPr lang="it"/>
              <a:t> action (like a </a:t>
            </a:r>
            <a:r>
              <a:rPr lang="it" err="1"/>
              <a:t>specific</a:t>
            </a:r>
            <a:r>
              <a:rPr lang="it"/>
              <a:t> player </a:t>
            </a:r>
            <a:r>
              <a:rPr lang="it" err="1"/>
              <a:t>stat</a:t>
            </a:r>
            <a:r>
              <a:rPr lang="it"/>
              <a:t>, the list of last </a:t>
            </a:r>
            <a:r>
              <a:rPr lang="it" err="1"/>
              <a:t>year</a:t>
            </a:r>
            <a:r>
              <a:rPr lang="it"/>
              <a:t> awards, ...). </a:t>
            </a:r>
            <a:endParaRPr/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/>
              <a:t>Given the input action, the Application accesses the DB </a:t>
            </a:r>
            <a:r>
              <a:rPr lang="it" err="1"/>
              <a:t>tables</a:t>
            </a:r>
            <a:r>
              <a:rPr lang="it"/>
              <a:t> and </a:t>
            </a:r>
            <a:r>
              <a:rPr lang="it" err="1"/>
              <a:t>returns</a:t>
            </a:r>
            <a:r>
              <a:rPr lang="it"/>
              <a:t> the information.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C6C2D18-C1E5-80A2-FA89-C76650E90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CF418CE0-709A-AF03-9DDC-C8CFB914A1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7794" y="211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UML Diagram</a:t>
            </a:r>
            <a:endParaRPr/>
          </a:p>
        </p:txBody>
      </p:sp>
      <p:pic>
        <p:nvPicPr>
          <p:cNvPr id="3" name="Picture 2" descr="PlantUML Diagram">
            <a:extLst>
              <a:ext uri="{FF2B5EF4-FFF2-40B4-BE49-F238E27FC236}">
                <a16:creationId xmlns:a16="http://schemas.microsoft.com/office/drawing/2014/main" id="{2CD30309-05EF-5313-F60E-FF986501A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616" y="655485"/>
            <a:ext cx="5415349" cy="398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642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912150" y="423594"/>
            <a:ext cx="2348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Use Case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1490418" y="1152475"/>
            <a:ext cx="7341882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/>
              <a:t>Write Action:</a:t>
            </a:r>
            <a:r>
              <a:rPr lang="it"/>
              <a:t> 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/>
              <a:t>Update Player Roster </a:t>
            </a:r>
            <a:r>
              <a:rPr lang="it" b="1" err="1"/>
              <a:t>Mid</a:t>
            </a:r>
            <a:r>
              <a:rPr lang="it" b="1"/>
              <a:t>-Season:</a:t>
            </a:r>
            <a:r>
              <a:rPr lang="it"/>
              <a:t> </a:t>
            </a:r>
            <a:r>
              <a:rPr lang="it" err="1"/>
              <a:t>As</a:t>
            </a:r>
            <a:r>
              <a:rPr lang="it"/>
              <a:t> </a:t>
            </a:r>
            <a:r>
              <a:rPr lang="it" err="1"/>
              <a:t>administrator</a:t>
            </a:r>
            <a:r>
              <a:rPr lang="it"/>
              <a:t>, I </a:t>
            </a:r>
            <a:r>
              <a:rPr lang="it" err="1"/>
              <a:t>want</a:t>
            </a:r>
            <a:r>
              <a:rPr lang="it"/>
              <a:t> to update a </a:t>
            </a:r>
            <a:r>
              <a:rPr lang="it" err="1"/>
              <a:t>player's</a:t>
            </a:r>
            <a:r>
              <a:rPr lang="it"/>
              <a:t> team in the database so I can </a:t>
            </a:r>
            <a:r>
              <a:rPr lang="it" err="1"/>
              <a:t>accurately</a:t>
            </a:r>
            <a:r>
              <a:rPr lang="it"/>
              <a:t> track </a:t>
            </a:r>
            <a:r>
              <a:rPr lang="it" err="1"/>
              <a:t>their</a:t>
            </a:r>
            <a:r>
              <a:rPr lang="it"/>
              <a:t> tenure and </a:t>
            </a:r>
            <a:r>
              <a:rPr lang="it" err="1"/>
              <a:t>stats</a:t>
            </a:r>
            <a:r>
              <a:rPr lang="it"/>
              <a:t> following a trade. </a:t>
            </a:r>
            <a:endParaRPr/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/>
              <a:t>Given the Admin </a:t>
            </a:r>
            <a:r>
              <a:rPr lang="it" err="1"/>
              <a:t>initiates</a:t>
            </a:r>
            <a:r>
              <a:rPr lang="it"/>
              <a:t> a roster </a:t>
            </a:r>
            <a:r>
              <a:rPr lang="it" err="1"/>
              <a:t>change</a:t>
            </a:r>
            <a:r>
              <a:rPr lang="it"/>
              <a:t> (an INSERT </a:t>
            </a:r>
            <a:r>
              <a:rPr lang="it" err="1"/>
              <a:t>into</a:t>
            </a:r>
            <a:r>
              <a:rPr lang="it"/>
              <a:t> DB), </a:t>
            </a:r>
            <a:r>
              <a:rPr lang="it" err="1"/>
              <a:t>if</a:t>
            </a:r>
            <a:r>
              <a:rPr lang="it"/>
              <a:t> the admin </a:t>
            </a:r>
            <a:r>
              <a:rPr lang="it" err="1"/>
              <a:t>is</a:t>
            </a:r>
            <a:r>
              <a:rPr lang="it"/>
              <a:t> </a:t>
            </a:r>
            <a:r>
              <a:rPr lang="it" err="1"/>
              <a:t>not</a:t>
            </a:r>
            <a:r>
              <a:rPr lang="it"/>
              <a:t> </a:t>
            </a:r>
            <a:r>
              <a:rPr lang="it" err="1"/>
              <a:t>logged</a:t>
            </a:r>
            <a:r>
              <a:rPr lang="it"/>
              <a:t> in, the System prompts for a password to </a:t>
            </a:r>
            <a:r>
              <a:rPr lang="it" err="1"/>
              <a:t>grant</a:t>
            </a:r>
            <a:r>
              <a:rPr lang="it"/>
              <a:t> </a:t>
            </a:r>
            <a:r>
              <a:rPr lang="it" err="1"/>
              <a:t>write</a:t>
            </a:r>
            <a:r>
              <a:rPr lang="it"/>
              <a:t> </a:t>
            </a:r>
            <a:r>
              <a:rPr lang="it" err="1"/>
              <a:t>privileges</a:t>
            </a:r>
            <a:r>
              <a:rPr lang="it"/>
              <a:t>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2746131" y="2113"/>
            <a:ext cx="296990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UML Diagram</a:t>
            </a:r>
            <a:endParaRPr/>
          </a:p>
        </p:txBody>
      </p:sp>
      <p:pic>
        <p:nvPicPr>
          <p:cNvPr id="3" name="Picture 2" descr="PlantUML Diagram">
            <a:extLst>
              <a:ext uri="{FF2B5EF4-FFF2-40B4-BE49-F238E27FC236}">
                <a16:creationId xmlns:a16="http://schemas.microsoft.com/office/drawing/2014/main" id="{41AB7804-457C-08EB-DC40-91DC687B0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195" y="774571"/>
            <a:ext cx="262937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590681" y="252144"/>
            <a:ext cx="182690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Entities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016744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2000" b="1">
                <a:solidFill>
                  <a:schemeClr val="dk1"/>
                </a:solidFill>
              </a:rPr>
              <a:t>Player</a:t>
            </a:r>
            <a:r>
              <a:rPr lang="en-US" sz="2000">
                <a:solidFill>
                  <a:schemeClr val="dk1"/>
                </a:solidFill>
              </a:rPr>
              <a:t>: This table would contain basic information about players, such as their height, weight, college, and birth date. Data for this table would come from files like </a:t>
            </a:r>
            <a:r>
              <a:rPr lang="en-US" sz="2000" i="1" u="sng">
                <a:solidFill>
                  <a:schemeClr val="dk1"/>
                </a:solidFill>
              </a:rPr>
              <a:t>Player Career Info.csv</a:t>
            </a:r>
            <a:r>
              <a:rPr lang="en-US" sz="2000">
                <a:solidFill>
                  <a:schemeClr val="dk1"/>
                </a:solidFill>
              </a:rPr>
              <a:t>. </a:t>
            </a: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2000" b="1">
                <a:solidFill>
                  <a:schemeClr val="dk1"/>
                </a:solidFill>
              </a:rPr>
              <a:t>Team</a:t>
            </a:r>
            <a:r>
              <a:rPr lang="en-US" sz="2000">
                <a:solidFill>
                  <a:schemeClr val="dk1"/>
                </a:solidFill>
              </a:rPr>
              <a:t>: This table would hold information about each team, including full names, abbreviations, city, and home arena. Information would be derived from files like Team Abbrev.csv or Team Summaries.csv. </a:t>
            </a: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2000" b="1">
                <a:solidFill>
                  <a:schemeClr val="dk1"/>
                </a:solidFill>
              </a:rPr>
              <a:t>Season</a:t>
            </a:r>
            <a:r>
              <a:rPr lang="en-US" sz="2000">
                <a:solidFill>
                  <a:schemeClr val="dk1"/>
                </a:solidFill>
              </a:rPr>
              <a:t>: This table would list all league seasons with their start and end years. It would serve as a support table to link player and team stats to a specific season with </a:t>
            </a:r>
            <a:r>
              <a:rPr lang="en-US" sz="2000" i="1" u="sng">
                <a:solidFill>
                  <a:schemeClr val="dk1"/>
                </a:solidFill>
              </a:rPr>
              <a:t>Player Season Info.csv</a:t>
            </a:r>
            <a:r>
              <a:rPr lang="en-US" sz="2000">
                <a:solidFill>
                  <a:schemeClr val="dk1"/>
                </a:solidFill>
              </a:rPr>
              <a:t>. </a:t>
            </a: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2000" b="1">
                <a:solidFill>
                  <a:schemeClr val="dk1"/>
                </a:solidFill>
              </a:rPr>
              <a:t>Game</a:t>
            </a:r>
            <a:r>
              <a:rPr lang="en-US" sz="2000">
                <a:solidFill>
                  <a:schemeClr val="dk1"/>
                </a:solidFill>
              </a:rPr>
              <a:t>: This table would include details about each individual game, such as the date, final scores, and the teams that played. Data could be obtained from </a:t>
            </a:r>
            <a:r>
              <a:rPr lang="en-US" sz="2000" i="1" u="sng">
                <a:solidFill>
                  <a:schemeClr val="dk1"/>
                </a:solidFill>
              </a:rPr>
              <a:t>Game.csv</a:t>
            </a:r>
            <a:r>
              <a:rPr lang="en-US" sz="2000">
                <a:solidFill>
                  <a:schemeClr val="dk1"/>
                </a:solidFill>
              </a:rPr>
              <a:t> or game summary files.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590681" y="21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Entities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626025" y="752425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Draft Pick</a:t>
            </a:r>
            <a:r>
              <a:rPr lang="it" sz="2000">
                <a:solidFill>
                  <a:schemeClr val="dk1"/>
                </a:solidFill>
              </a:rPr>
              <a:t>: </a:t>
            </a:r>
            <a:r>
              <a:rPr lang="it" sz="2000" err="1">
                <a:solidFill>
                  <a:schemeClr val="dk1"/>
                </a:solidFill>
              </a:rPr>
              <a:t>This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table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record a </a:t>
            </a:r>
            <a:r>
              <a:rPr lang="it" sz="2000" err="1">
                <a:solidFill>
                  <a:schemeClr val="dk1"/>
                </a:solidFill>
              </a:rPr>
              <a:t>player's</a:t>
            </a:r>
            <a:r>
              <a:rPr lang="it" sz="2000">
                <a:solidFill>
                  <a:schemeClr val="dk1"/>
                </a:solidFill>
              </a:rPr>
              <a:t> draft history, </a:t>
            </a:r>
            <a:r>
              <a:rPr lang="it" sz="2000" err="1">
                <a:solidFill>
                  <a:schemeClr val="dk1"/>
                </a:solidFill>
              </a:rPr>
              <a:t>including</a:t>
            </a:r>
            <a:r>
              <a:rPr lang="it" sz="2000">
                <a:solidFill>
                  <a:schemeClr val="dk1"/>
                </a:solidFill>
              </a:rPr>
              <a:t> the draft </a:t>
            </a:r>
            <a:r>
              <a:rPr lang="it" sz="2000" err="1">
                <a:solidFill>
                  <a:schemeClr val="dk1"/>
                </a:solidFill>
              </a:rPr>
              <a:t>year</a:t>
            </a:r>
            <a:r>
              <a:rPr lang="it" sz="2000">
                <a:solidFill>
                  <a:schemeClr val="dk1"/>
                </a:solidFill>
              </a:rPr>
              <a:t> and </a:t>
            </a:r>
            <a:r>
              <a:rPr lang="it" sz="2000" err="1">
                <a:solidFill>
                  <a:schemeClr val="dk1"/>
                </a:solidFill>
              </a:rPr>
              <a:t>their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selection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number</a:t>
            </a:r>
            <a:r>
              <a:rPr lang="it" sz="2000">
                <a:solidFill>
                  <a:schemeClr val="dk1"/>
                </a:solidFill>
              </a:rPr>
              <a:t>. The data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come from the </a:t>
            </a:r>
            <a:r>
              <a:rPr lang="it" sz="2000" i="1" u="sng">
                <a:solidFill>
                  <a:schemeClr val="dk1"/>
                </a:solidFill>
              </a:rPr>
              <a:t>Draft Pick History.csv</a:t>
            </a:r>
            <a:r>
              <a:rPr lang="it" sz="2000">
                <a:solidFill>
                  <a:schemeClr val="dk1"/>
                </a:solidFill>
              </a:rPr>
              <a:t> file. </a:t>
            </a:r>
            <a:endParaRPr lang="en-US"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 err="1">
                <a:solidFill>
                  <a:schemeClr val="dk1"/>
                </a:solidFill>
              </a:rPr>
              <a:t>All</a:t>
            </a:r>
            <a:r>
              <a:rPr lang="it" sz="2000" b="1">
                <a:solidFill>
                  <a:schemeClr val="dk1"/>
                </a:solidFill>
              </a:rPr>
              <a:t>-Star </a:t>
            </a:r>
            <a:r>
              <a:rPr lang="it" sz="2000" b="1" err="1">
                <a:solidFill>
                  <a:schemeClr val="dk1"/>
                </a:solidFill>
              </a:rPr>
              <a:t>Selection</a:t>
            </a:r>
            <a:r>
              <a:rPr lang="it" sz="2000">
                <a:solidFill>
                  <a:schemeClr val="dk1"/>
                </a:solidFill>
              </a:rPr>
              <a:t>: </a:t>
            </a:r>
            <a:r>
              <a:rPr lang="it" sz="2000" err="1">
                <a:solidFill>
                  <a:schemeClr val="dk1"/>
                </a:solidFill>
              </a:rPr>
              <a:t>This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table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record </a:t>
            </a:r>
            <a:r>
              <a:rPr lang="it" sz="2000" err="1">
                <a:solidFill>
                  <a:schemeClr val="dk1"/>
                </a:solidFill>
              </a:rPr>
              <a:t>every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instance</a:t>
            </a:r>
            <a:r>
              <a:rPr lang="it" sz="2000">
                <a:solidFill>
                  <a:schemeClr val="dk1"/>
                </a:solidFill>
              </a:rPr>
              <a:t> a player </a:t>
            </a:r>
            <a:r>
              <a:rPr lang="it" sz="2000" err="1">
                <a:solidFill>
                  <a:schemeClr val="dk1"/>
                </a:solidFill>
              </a:rPr>
              <a:t>was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selected</a:t>
            </a:r>
            <a:r>
              <a:rPr lang="it" sz="2000">
                <a:solidFill>
                  <a:schemeClr val="dk1"/>
                </a:solidFill>
              </a:rPr>
              <a:t> for the </a:t>
            </a:r>
            <a:r>
              <a:rPr lang="it" sz="2000" err="1">
                <a:solidFill>
                  <a:schemeClr val="dk1"/>
                </a:solidFill>
              </a:rPr>
              <a:t>All</a:t>
            </a:r>
            <a:r>
              <a:rPr lang="it" sz="2000">
                <a:solidFill>
                  <a:schemeClr val="dk1"/>
                </a:solidFill>
              </a:rPr>
              <a:t>-Star Game, </a:t>
            </a:r>
            <a:r>
              <a:rPr lang="it" sz="2000" err="1">
                <a:solidFill>
                  <a:schemeClr val="dk1"/>
                </a:solidFill>
              </a:rPr>
              <a:t>specifying</a:t>
            </a:r>
            <a:r>
              <a:rPr lang="it" sz="2000">
                <a:solidFill>
                  <a:schemeClr val="dk1"/>
                </a:solidFill>
              </a:rPr>
              <a:t> the </a:t>
            </a:r>
            <a:r>
              <a:rPr lang="it" sz="2000" err="1">
                <a:solidFill>
                  <a:schemeClr val="dk1"/>
                </a:solidFill>
              </a:rPr>
              <a:t>year</a:t>
            </a:r>
            <a:r>
              <a:rPr lang="it" sz="2000">
                <a:solidFill>
                  <a:schemeClr val="dk1"/>
                </a:solidFill>
              </a:rPr>
              <a:t>. Information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be </a:t>
            </a:r>
            <a:r>
              <a:rPr lang="it" sz="2000" err="1">
                <a:solidFill>
                  <a:schemeClr val="dk1"/>
                </a:solidFill>
              </a:rPr>
              <a:t>derived</a:t>
            </a:r>
            <a:r>
              <a:rPr lang="it" sz="2000">
                <a:solidFill>
                  <a:schemeClr val="dk1"/>
                </a:solidFill>
              </a:rPr>
              <a:t> from the </a:t>
            </a:r>
            <a:r>
              <a:rPr lang="it" sz="2000" i="1" u="sng" err="1">
                <a:solidFill>
                  <a:schemeClr val="dk1"/>
                </a:solidFill>
              </a:rPr>
              <a:t>All</a:t>
            </a:r>
            <a:r>
              <a:rPr lang="it" sz="2000" i="1" u="sng">
                <a:solidFill>
                  <a:schemeClr val="dk1"/>
                </a:solidFill>
              </a:rPr>
              <a:t>-Star Selections.csv</a:t>
            </a:r>
            <a:r>
              <a:rPr lang="it" sz="2000">
                <a:solidFill>
                  <a:schemeClr val="dk1"/>
                </a:solidFill>
              </a:rPr>
              <a:t> file.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Award</a:t>
            </a:r>
            <a:r>
              <a:rPr lang="it" sz="2000">
                <a:solidFill>
                  <a:schemeClr val="dk1"/>
                </a:solidFill>
              </a:rPr>
              <a:t>: </a:t>
            </a:r>
            <a:r>
              <a:rPr lang="it" sz="2000" err="1">
                <a:solidFill>
                  <a:schemeClr val="dk1"/>
                </a:solidFill>
              </a:rPr>
              <a:t>This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table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list the </a:t>
            </a:r>
            <a:r>
              <a:rPr lang="it" sz="2000" err="1">
                <a:solidFill>
                  <a:schemeClr val="dk1"/>
                </a:solidFill>
              </a:rPr>
              <a:t>different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league</a:t>
            </a:r>
            <a:r>
              <a:rPr lang="it" sz="2000">
                <a:solidFill>
                  <a:schemeClr val="dk1"/>
                </a:solidFill>
              </a:rPr>
              <a:t> awards (e.g., MVP, Rookie of the </a:t>
            </a:r>
            <a:r>
              <a:rPr lang="it" sz="2000" err="1">
                <a:solidFill>
                  <a:schemeClr val="dk1"/>
                </a:solidFill>
              </a:rPr>
              <a:t>Year</a:t>
            </a:r>
            <a:r>
              <a:rPr lang="it" sz="2000">
                <a:solidFill>
                  <a:schemeClr val="dk1"/>
                </a:solidFill>
              </a:rPr>
              <a:t>). Data </a:t>
            </a:r>
            <a:r>
              <a:rPr lang="it" sz="2000" err="1">
                <a:solidFill>
                  <a:schemeClr val="dk1"/>
                </a:solidFill>
              </a:rPr>
              <a:t>could</a:t>
            </a:r>
            <a:r>
              <a:rPr lang="it" sz="2000">
                <a:solidFill>
                  <a:schemeClr val="dk1"/>
                </a:solidFill>
              </a:rPr>
              <a:t> be </a:t>
            </a:r>
            <a:r>
              <a:rPr lang="it" sz="2000" err="1">
                <a:solidFill>
                  <a:schemeClr val="dk1"/>
                </a:solidFill>
              </a:rPr>
              <a:t>extracted</a:t>
            </a:r>
            <a:r>
              <a:rPr lang="it" sz="2000">
                <a:solidFill>
                  <a:schemeClr val="dk1"/>
                </a:solidFill>
              </a:rPr>
              <a:t> from the </a:t>
            </a:r>
            <a:r>
              <a:rPr lang="it" sz="2000" i="1" u="sng">
                <a:solidFill>
                  <a:schemeClr val="dk1"/>
                </a:solidFill>
              </a:rPr>
              <a:t>Player Award Shares.csv</a:t>
            </a:r>
            <a:r>
              <a:rPr lang="it" sz="2000">
                <a:solidFill>
                  <a:schemeClr val="dk1"/>
                </a:solidFill>
              </a:rPr>
              <a:t> file.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Player </a:t>
            </a:r>
            <a:r>
              <a:rPr lang="it" sz="2000" b="1" err="1">
                <a:solidFill>
                  <a:schemeClr val="dk1"/>
                </a:solidFill>
              </a:rPr>
              <a:t>Stats</a:t>
            </a:r>
            <a:r>
              <a:rPr lang="it" sz="2000">
                <a:solidFill>
                  <a:schemeClr val="dk1"/>
                </a:solidFill>
              </a:rPr>
              <a:t>: </a:t>
            </a:r>
            <a:r>
              <a:rPr lang="it" sz="2000" err="1">
                <a:solidFill>
                  <a:schemeClr val="dk1"/>
                </a:solidFill>
              </a:rPr>
              <a:t>This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is</a:t>
            </a:r>
            <a:r>
              <a:rPr lang="it" sz="2000">
                <a:solidFill>
                  <a:schemeClr val="dk1"/>
                </a:solidFill>
              </a:rPr>
              <a:t> an associative </a:t>
            </a:r>
            <a:r>
              <a:rPr lang="it" sz="2000" err="1">
                <a:solidFill>
                  <a:schemeClr val="dk1"/>
                </a:solidFill>
              </a:rPr>
              <a:t>table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that</a:t>
            </a:r>
            <a:r>
              <a:rPr lang="it" sz="2000">
                <a:solidFill>
                  <a:schemeClr val="dk1"/>
                </a:solidFill>
              </a:rPr>
              <a:t> links Players to Seasons. </a:t>
            </a:r>
            <a:r>
              <a:rPr lang="it" sz="2000" err="1">
                <a:solidFill>
                  <a:schemeClr val="dk1"/>
                </a:solidFill>
              </a:rPr>
              <a:t>It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contain</a:t>
            </a:r>
            <a:r>
              <a:rPr lang="it" sz="2000">
                <a:solidFill>
                  <a:schemeClr val="dk1"/>
                </a:solidFill>
              </a:rPr>
              <a:t> a </a:t>
            </a:r>
            <a:r>
              <a:rPr lang="it" sz="2000" err="1">
                <a:solidFill>
                  <a:schemeClr val="dk1"/>
                </a:solidFill>
              </a:rPr>
              <a:t>player's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detailed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statistics</a:t>
            </a:r>
            <a:r>
              <a:rPr lang="it" sz="2000">
                <a:solidFill>
                  <a:schemeClr val="dk1"/>
                </a:solidFill>
              </a:rPr>
              <a:t> for a </a:t>
            </a:r>
            <a:r>
              <a:rPr lang="it" sz="2000" err="1">
                <a:solidFill>
                  <a:schemeClr val="dk1"/>
                </a:solidFill>
              </a:rPr>
              <a:t>given</a:t>
            </a:r>
            <a:r>
              <a:rPr lang="it" sz="2000">
                <a:solidFill>
                  <a:schemeClr val="dk1"/>
                </a:solidFill>
              </a:rPr>
              <a:t> season, </a:t>
            </a:r>
            <a:r>
              <a:rPr lang="it" sz="2000" err="1">
                <a:solidFill>
                  <a:schemeClr val="dk1"/>
                </a:solidFill>
              </a:rPr>
              <a:t>such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as</a:t>
            </a:r>
            <a:r>
              <a:rPr lang="it" sz="2000">
                <a:solidFill>
                  <a:schemeClr val="dk1"/>
                </a:solidFill>
              </a:rPr>
              <a:t> points, rebounds, and assists. Information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come from files like Player Per Game.csv or Player Totals.csv. 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676281" y="159275"/>
            <a:ext cx="314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E/R -&gt; relations </a:t>
            </a:r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711750" y="959594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Player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PlayerID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PlayerName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BornDate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Height</a:t>
            </a:r>
            <a:r>
              <a:rPr lang="it" sz="2000">
                <a:solidFill>
                  <a:schemeClr val="dk1"/>
                </a:solidFill>
              </a:rPr>
              <a:t>, Weight) </a:t>
            </a:r>
            <a:endParaRPr lang="en-US"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Team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TeamID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TeamName</a:t>
            </a:r>
            <a:r>
              <a:rPr lang="it" sz="2000">
                <a:solidFill>
                  <a:schemeClr val="dk1"/>
                </a:solidFill>
              </a:rPr>
              <a:t>, City, </a:t>
            </a:r>
            <a:r>
              <a:rPr lang="it" sz="2000" err="1">
                <a:solidFill>
                  <a:schemeClr val="dk1"/>
                </a:solidFill>
              </a:rPr>
              <a:t>ArenaName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Season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SeasonID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YearStart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YearEnd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Game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GameID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GameDate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Attendance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SeasonID</a:t>
            </a:r>
            <a:r>
              <a:rPr lang="it" sz="2000" err="1">
                <a:solidFill>
                  <a:schemeClr val="dk1"/>
                </a:solidFill>
              </a:rPr>
              <a:t>→Season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HomeTeamID</a:t>
            </a:r>
            <a:r>
              <a:rPr lang="it" sz="2000" err="1">
                <a:solidFill>
                  <a:schemeClr val="dk1"/>
                </a:solidFill>
              </a:rPr>
              <a:t>→Team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 err="1">
                <a:solidFill>
                  <a:schemeClr val="dk1"/>
                </a:solidFill>
              </a:rPr>
              <a:t>PlayerTeamSeason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PlayerID</a:t>
            </a:r>
            <a:r>
              <a:rPr lang="it" sz="2000" err="1">
                <a:solidFill>
                  <a:schemeClr val="dk1"/>
                </a:solidFill>
              </a:rPr>
              <a:t>→Player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TeamID</a:t>
            </a:r>
            <a:r>
              <a:rPr lang="it" sz="2000" err="1">
                <a:solidFill>
                  <a:schemeClr val="dk1"/>
                </a:solidFill>
              </a:rPr>
              <a:t>→Team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SeasonID</a:t>
            </a:r>
            <a:r>
              <a:rPr lang="it" sz="2000" err="1">
                <a:solidFill>
                  <a:schemeClr val="dk1"/>
                </a:solidFill>
              </a:rPr>
              <a:t>→Season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StartDate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EndDate</a:t>
            </a:r>
            <a:r>
              <a:rPr lang="it" sz="2000">
                <a:solidFill>
                  <a:schemeClr val="dk1"/>
                </a:solidFill>
              </a:rPr>
              <a:t>) </a:t>
            </a:r>
            <a:br>
              <a:rPr lang="it" sz="2000"/>
            </a:br>
            <a:r>
              <a:rPr lang="it" sz="2000">
                <a:solidFill>
                  <a:schemeClr val="dk1"/>
                </a:solidFill>
              </a:rPr>
              <a:t> PK = (</a:t>
            </a:r>
            <a:r>
              <a:rPr lang="it" sz="2000" err="1">
                <a:solidFill>
                  <a:schemeClr val="dk1"/>
                </a:solidFill>
              </a:rPr>
              <a:t>PlayerID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TeamID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SeasonID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 err="1">
                <a:solidFill>
                  <a:schemeClr val="dk1"/>
                </a:solidFill>
              </a:rPr>
              <a:t>Draft_Pick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DraftPickID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OverallPick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DraftYear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PlayerID</a:t>
            </a:r>
            <a:r>
              <a:rPr lang="it" sz="2000" err="1">
                <a:solidFill>
                  <a:schemeClr val="dk1"/>
                </a:solidFill>
              </a:rPr>
              <a:t>→Player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SeasonID</a:t>
            </a:r>
            <a:r>
              <a:rPr lang="it" sz="2000" err="1">
                <a:solidFill>
                  <a:schemeClr val="dk1"/>
                </a:solidFill>
              </a:rPr>
              <a:t>→Season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2862019" y="152131"/>
            <a:ext cx="342710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E/R -&gt; relations </a:t>
            </a:r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533156" y="1031031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85800" indent="-304800">
              <a:buClr>
                <a:schemeClr val="dk1"/>
              </a:buClr>
              <a:buSzPts val="1200"/>
            </a:pPr>
            <a:r>
              <a:rPr lang="it" sz="2000" b="1" err="1">
                <a:solidFill>
                  <a:schemeClr val="dk1"/>
                </a:solidFill>
              </a:rPr>
              <a:t>All_Star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AllStarID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SelectionYear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SelectionType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>
                <a:solidFill>
                  <a:schemeClr val="dk1"/>
                </a:solidFill>
              </a:rPr>
              <a:t>PlayerID</a:t>
            </a:r>
            <a:r>
              <a:rPr lang="it" sz="2000">
                <a:solidFill>
                  <a:schemeClr val="dk1"/>
                </a:solidFill>
              </a:rPr>
              <a:t>→Player) </a:t>
            </a:r>
            <a:endParaRPr lang="en-US" sz="2000">
              <a:solidFill>
                <a:schemeClr val="dk1"/>
              </a:solidFill>
            </a:endParaRPr>
          </a:p>
          <a:p>
            <a:pPr marL="685800" indent="-304800">
              <a:buClr>
                <a:schemeClr val="dk1"/>
              </a:buClr>
              <a:buSzPts val="1200"/>
            </a:pPr>
            <a:r>
              <a:rPr lang="it" sz="2000" b="1">
                <a:solidFill>
                  <a:schemeClr val="dk1"/>
                </a:solidFill>
              </a:rPr>
              <a:t>Award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AwardID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AwardName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indent="-304800">
              <a:buClr>
                <a:schemeClr val="dk1"/>
              </a:buClr>
              <a:buSzPts val="1200"/>
            </a:pPr>
            <a:r>
              <a:rPr lang="it" sz="2000" b="1" err="1">
                <a:solidFill>
                  <a:schemeClr val="dk1"/>
                </a:solidFill>
              </a:rPr>
              <a:t>Player_Award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PlayerID</a:t>
            </a:r>
            <a:r>
              <a:rPr lang="it" sz="2000" err="1">
                <a:solidFill>
                  <a:schemeClr val="dk1"/>
                </a:solidFill>
              </a:rPr>
              <a:t>→Player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AwardID</a:t>
            </a:r>
            <a:r>
              <a:rPr lang="it" sz="2000" err="1">
                <a:solidFill>
                  <a:schemeClr val="dk1"/>
                </a:solidFill>
              </a:rPr>
              <a:t>→Award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AwardYear</a:t>
            </a:r>
            <a:r>
              <a:rPr lang="it" sz="2000">
                <a:solidFill>
                  <a:schemeClr val="dk1"/>
                </a:solidFill>
              </a:rPr>
              <a:t>) </a:t>
            </a:r>
            <a:br>
              <a:rPr lang="it" sz="2000"/>
            </a:br>
            <a:r>
              <a:rPr lang="it" sz="2000">
                <a:solidFill>
                  <a:schemeClr val="dk1"/>
                </a:solidFill>
              </a:rPr>
              <a:t> PK = (</a:t>
            </a:r>
            <a:r>
              <a:rPr lang="it" sz="2000" err="1">
                <a:solidFill>
                  <a:schemeClr val="dk1"/>
                </a:solidFill>
              </a:rPr>
              <a:t>PlayerID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AwardID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AwardYear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 err="1">
                <a:solidFill>
                  <a:schemeClr val="dk1"/>
                </a:solidFill>
              </a:rPr>
              <a:t>PlayerGameStats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StatsID</a:t>
            </a:r>
            <a:r>
              <a:rPr lang="it" sz="2000">
                <a:solidFill>
                  <a:schemeClr val="dk1"/>
                </a:solidFill>
              </a:rPr>
              <a:t>, Points, Rebounds, Assists, </a:t>
            </a:r>
            <a:r>
              <a:rPr lang="it" sz="2000" err="1">
                <a:solidFill>
                  <a:schemeClr val="dk1"/>
                </a:solidFill>
              </a:rPr>
              <a:t>Steals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Blocks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GameID</a:t>
            </a:r>
            <a:r>
              <a:rPr lang="it" sz="2000" err="1">
                <a:solidFill>
                  <a:schemeClr val="dk1"/>
                </a:solidFill>
              </a:rPr>
              <a:t>→Game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PlayerID</a:t>
            </a:r>
            <a:r>
              <a:rPr lang="it" sz="2000" err="1">
                <a:solidFill>
                  <a:schemeClr val="dk1"/>
                </a:solidFill>
              </a:rPr>
              <a:t>→Player</a:t>
            </a:r>
            <a:r>
              <a:rPr lang="it" sz="2000">
                <a:solidFill>
                  <a:schemeClr val="dk1"/>
                </a:solidFill>
              </a:rPr>
              <a:t>) </a:t>
            </a:r>
            <a:br>
              <a:rPr lang="it" sz="2000"/>
            </a:br>
            <a:r>
              <a:rPr lang="it" sz="2000">
                <a:solidFill>
                  <a:schemeClr val="dk1"/>
                </a:solidFill>
              </a:rPr>
              <a:t> UNIQUE(</a:t>
            </a:r>
            <a:r>
              <a:rPr lang="it" sz="2000" err="1">
                <a:solidFill>
                  <a:schemeClr val="dk1"/>
                </a:solidFill>
              </a:rPr>
              <a:t>GameID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PlayerID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 err="1">
                <a:solidFill>
                  <a:schemeClr val="dk1"/>
                </a:solidFill>
              </a:rPr>
              <a:t>TeamGameStats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StatsID</a:t>
            </a:r>
            <a:r>
              <a:rPr lang="it" sz="2000">
                <a:solidFill>
                  <a:schemeClr val="dk1"/>
                </a:solidFill>
              </a:rPr>
              <a:t>, Points, Rebounds, Assists, </a:t>
            </a:r>
            <a:r>
              <a:rPr lang="it" sz="2000" err="1">
                <a:solidFill>
                  <a:schemeClr val="dk1"/>
                </a:solidFill>
              </a:rPr>
              <a:t>Steals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Blocks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GameID</a:t>
            </a:r>
            <a:r>
              <a:rPr lang="it" sz="2000" err="1">
                <a:solidFill>
                  <a:schemeClr val="dk1"/>
                </a:solidFill>
              </a:rPr>
              <a:t>→Game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TeamID</a:t>
            </a:r>
            <a:r>
              <a:rPr lang="it" sz="2000" err="1">
                <a:solidFill>
                  <a:schemeClr val="dk1"/>
                </a:solidFill>
              </a:rPr>
              <a:t>→Team</a:t>
            </a:r>
            <a:r>
              <a:rPr lang="it" sz="2000">
                <a:solidFill>
                  <a:schemeClr val="dk1"/>
                </a:solidFill>
              </a:rPr>
              <a:t>) </a:t>
            </a:r>
            <a:br>
              <a:rPr lang="it" sz="2000"/>
            </a:br>
            <a:r>
              <a:rPr lang="it" sz="2000">
                <a:solidFill>
                  <a:schemeClr val="dk1"/>
                </a:solidFill>
              </a:rPr>
              <a:t> UNIQUE(</a:t>
            </a:r>
            <a:r>
              <a:rPr lang="it" sz="2000" err="1">
                <a:solidFill>
                  <a:schemeClr val="dk1"/>
                </a:solidFill>
              </a:rPr>
              <a:t>GameID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TeamID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00fc0da-a2ef-4fa5-9ec5-e3deda91557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337AE41ED7084D9E47F59F7AD9FE2A" ma:contentTypeVersion="10" ma:contentTypeDescription="Create a new document." ma:contentTypeScope="" ma:versionID="eb8fefc4ce0e32826d34426b723e6ca3">
  <xsd:schema xmlns:xsd="http://www.w3.org/2001/XMLSchema" xmlns:xs="http://www.w3.org/2001/XMLSchema" xmlns:p="http://schemas.microsoft.com/office/2006/metadata/properties" xmlns:ns3="300fc0da-a2ef-4fa5-9ec5-e3deda915573" targetNamespace="http://schemas.microsoft.com/office/2006/metadata/properties" ma:root="true" ma:fieldsID="c623a21f7b6e7d0128787e30276b4e0e" ns3:_="">
    <xsd:import namespace="300fc0da-a2ef-4fa5-9ec5-e3deda91557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0fc0da-a2ef-4fa5-9ec5-e3deda91557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60D1131-8C7E-4151-99BC-4CF651BCAB23}">
  <ds:schemaRefs>
    <ds:schemaRef ds:uri="http://purl.org/dc/terms/"/>
    <ds:schemaRef ds:uri="300fc0da-a2ef-4fa5-9ec5-e3deda915573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9E80C22-DAAC-4820-9D28-F491BF35CF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1A67DD-4A57-4437-BBC0-E8C3AF13CC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0fc0da-a2ef-4fa5-9ec5-e3deda9155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1296</Words>
  <Application>Microsoft Office PowerPoint</Application>
  <PresentationFormat>On-screen Show (16:9)</PresentationFormat>
  <Paragraphs>143</Paragraphs>
  <Slides>19</Slides>
  <Notes>10</Notes>
  <HiddenSlides>8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Corbel</vt:lpstr>
      <vt:lpstr>Times New Roman</vt:lpstr>
      <vt:lpstr>Parallax</vt:lpstr>
      <vt:lpstr>NBA Stats App</vt:lpstr>
      <vt:lpstr>System Description</vt:lpstr>
      <vt:lpstr>Use Cases</vt:lpstr>
      <vt:lpstr>Use Cases</vt:lpstr>
      <vt:lpstr>Use Cases</vt:lpstr>
      <vt:lpstr>Use Cases</vt:lpstr>
      <vt:lpstr>Use Cases</vt:lpstr>
      <vt:lpstr>E/R diagram</vt:lpstr>
      <vt:lpstr>Relational Schema</vt:lpstr>
      <vt:lpstr>Implementation Details</vt:lpstr>
      <vt:lpstr>Implementation Details</vt:lpstr>
      <vt:lpstr>Use Case</vt:lpstr>
      <vt:lpstr>UML Diagram</vt:lpstr>
      <vt:lpstr>Use Case</vt:lpstr>
      <vt:lpstr>UML Diagram</vt:lpstr>
      <vt:lpstr>Entities</vt:lpstr>
      <vt:lpstr>Entities</vt:lpstr>
      <vt:lpstr>E/R -&gt; relations </vt:lpstr>
      <vt:lpstr>E/R -&gt; relations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Joshua Lee</dc:creator>
  <cp:lastModifiedBy>Joshua Lee</cp:lastModifiedBy>
  <cp:revision>7</cp:revision>
  <dcterms:modified xsi:type="dcterms:W3CDTF">2025-12-11T20:04:28Z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0x01010036337AE41ED7084D9E47F59F7AD9FE2A</vt:lpwstr>
  </property>
</Properties>
</file>